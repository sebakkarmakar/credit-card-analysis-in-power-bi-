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000000"/>
                </a:solidFill>
                <a:latin typeface="Arial"/>
              </a:defRPr>
            </a:pPr>
            <a:r>
              <a:rPr sz="1100" b="0" i="0" u="none" strike="noStrike">
                <a:solidFill>
                  <a:srgbClr val="000000"/>
                </a:solidFill>
                <a:latin typeface="Arial"/>
              </a:rPr>
              <a:t>Revenue by gender</a:t>
            </a:r>
          </a:p>
        </c:rich>
      </c:tx>
      <c:layout/>
      <c:overlay val="0"/>
    </c:title>
    <c:autoTitleDeleted val="0"/>
    <c:plotArea>
      <c:layout/>
      <c:doughnutChart>
        <c:varyColors val="1"/>
        <c:ser>
          <c:idx val="0"/>
          <c:order val="0"/>
          <c:tx>
            <c:strRef>
              <c:f>Sheet1!$B$1</c:f>
              <c:strCache>
                <c:ptCount val="1"/>
                <c:pt idx="0">
                  <c:v>Gender</c:v>
                </c:pt>
              </c:strCache>
            </c:strRef>
          </c:tx>
          <c:spPr>
            <a:solidFill>
              <a:schemeClr val="accent1"/>
            </a:solidFill>
            <a:ln w="9525" cap="flat">
              <a:solidFill>
                <a:srgbClr val="F9F9F9"/>
              </a:solidFill>
              <a:prstDash val="solid"/>
              <a:round/>
            </a:ln>
            <a:effectLst/>
          </c:spPr>
          <c:dPt>
            <c:idx val="0"/>
            <c:bubble3D val="0"/>
            <c:spPr>
              <a:solidFill>
                <a:srgbClr val="0B2545"/>
              </a:solidFill>
              <a:effectLst/>
            </c:spPr>
          </c:dPt>
          <c:dPt>
            <c:idx val="1"/>
            <c:bubble3D val="0"/>
            <c:spPr>
              <a:solidFill>
                <a:srgbClr val="1E88E5"/>
              </a:solidFill>
              <a:effectLst/>
            </c:spPr>
          </c:dPt>
          <c:dLbls>
            <c:dLbl>
              <c:idx val="0"/>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Male 30M</c:v>
                </c:pt>
                <c:pt idx="1">
                  <c:v>Female 25M</c:v>
                </c:pt>
              </c:strCache>
            </c:strRef>
          </c:cat>
          <c:val>
            <c:numRef>
              <c:f>Sheet1!$B$2:$B$3</c:f>
              <c:numCache>
                <c:ptCount val="2"/>
                <c:pt idx="0">
                  <c:v>30</c:v>
                </c:pt>
                <c:pt idx="1">
                  <c:v>25</c:v>
                </c:pt>
              </c:numCache>
            </c:numRef>
          </c:val>
        </c:ser>
        <c:firstSliceAng val="0"/>
        <c:holeSize val="55"/>
      </c:doughnutChart>
      <c:spPr>
        <a:noFill/>
        <a:ln>
          <a:noFill/>
        </a:ln>
        <a:effectLst/>
      </c:spPr>
    </c:plotArea>
    <c:legend>
      <c:legendPos val="b"/>
      <c:overlay val="0"/>
      <c:txPr>
        <a:bodyPr/>
        <a:lstStyle/>
        <a:p>
          <a:pPr>
            <a:defRPr sz="1000">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545"/>
                </a:solidFill>
                <a:latin typeface="Arial"/>
              </a:defRPr>
            </a:pPr>
            <a:r>
              <a:rPr sz="1300" b="0" i="0" u="none" strike="noStrike">
                <a:solidFill>
                  <a:srgbClr val="0B2545"/>
                </a:solidFill>
                <a:latin typeface="Arial"/>
              </a:rPr>
              <a:t>Revenue by card category (M)</a:t>
            </a:r>
          </a:p>
        </c:rich>
      </c:tx>
      <c:layout/>
      <c:overlay val="0"/>
    </c:title>
    <c:autoTitleDeleted val="0"/>
    <c:plotArea>
      <c:layout/>
      <c:barChart>
        <c:barDir val="bar"/>
        <c:grouping val="clustered"/>
        <c:varyColors val="0"/>
        <c:ser>
          <c:idx val="0"/>
          <c:order val="0"/>
          <c:tx>
            <c:strRef>
              <c:f>Sheet1!$B$1</c:f>
              <c:strCache>
                <c:ptCount val="1"/>
                <c:pt idx="0">
                  <c:v>Revenue (M)</c:v>
                </c:pt>
              </c:strCache>
            </c:strRef>
          </c:tx>
          <c:spPr>
            <a:solidFill>
              <a:srgbClr val="1E88E5"/>
            </a:solidFill>
            <a:effectLst/>
          </c:spPr>
          <c:invertIfNegative val="0"/>
          <c:dLbls>
            <c:numFmt formatCode="0.0" sourceLinked="0"/>
            <c:txPr>
              <a:bodyPr/>
              <a:lstStyle/>
              <a:p>
                <a:pPr>
                  <a:defRPr b="0" i="0" strike="noStrike" sz="1100" u="none">
                    <a:solidFill>
                      <a:srgbClr val="0B2545"/>
                    </a:solidFill>
                    <a:latin typeface="+mn-lt"/>
                  </a:defRPr>
                </a:pPr>
              </a:p>
            </c:txPr>
            <c:showLegendKey val="0"/>
            <c:showVal val="1"/>
            <c:showCatName val="0"/>
            <c:showSerName val="0"/>
            <c:showPercent val="0"/>
            <c:showBubbleSize val="0"/>
            <c:showLeaderLines val="0"/>
          </c:dLbls>
          <c:cat>
            <c:multiLvlStrRef>
              <c:f>Sheet1!$A$2:$A$5</c:f>
              <c:multiLvlStrCache>
                <c:ptCount val="4"/>
                <c:lvl>
                  <c:pt idx="0">
                    <c:v>Blue</c:v>
                  </c:pt>
                  <c:pt idx="1">
                    <c:v>Silver</c:v>
                  </c:pt>
                  <c:pt idx="2">
                    <c:v>Gold</c:v>
                  </c:pt>
                  <c:pt idx="3">
                    <c:v>Platinum</c:v>
                  </c:pt>
                </c:lvl>
              </c:multiLvlStrCache>
            </c:multiLvlStrRef>
          </c:cat>
          <c:val>
            <c:numRef>
              <c:f>Sheet1!$B$2:$B$5</c:f>
              <c:numCache>
                <c:formatCode>General</c:formatCode>
                <c:ptCount val="4"/>
                <c:pt idx="0">
                  <c:v>46.1</c:v>
                </c:pt>
                <c:pt idx="1">
                  <c:v>5.6</c:v>
                </c:pt>
                <c:pt idx="2">
                  <c:v>2.5</c:v>
                </c:pt>
                <c:pt idx="3">
                  <c:v>1.1</c:v>
                </c:pt>
              </c:numCache>
            </c:numRef>
          </c:val>
        </c:ser>
        <c:dLbls>
          <c:numFmt formatCode="0.0" sourceLinked="0"/>
          <c:txPr>
            <a:bodyPr/>
            <a:lstStyle/>
            <a:p>
              <a:pPr>
                <a:defRPr b="0" i="0" strike="noStrike" sz="1100" u="none">
                  <a:solidFill>
                    <a:srgbClr val="0B2545"/>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B7F"/>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3E8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6B7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545"/>
                </a:solidFill>
                <a:latin typeface="Arial"/>
              </a:defRPr>
            </a:pPr>
            <a:r>
              <a:rPr sz="1300" b="0" i="0" u="none" strike="noStrike">
                <a:solidFill>
                  <a:srgbClr val="0B2545"/>
                </a:solidFill>
                <a:latin typeface="Arial"/>
              </a:rPr>
              <a:t>Revenue by quarter (M)</a:t>
            </a:r>
          </a:p>
        </c:rich>
      </c:tx>
      <c:layout/>
      <c:overlay val="0"/>
    </c:title>
    <c:autoTitleDeleted val="0"/>
    <c:plotArea>
      <c:layout/>
      <c:barChart>
        <c:barDir val="col"/>
        <c:grouping val="clustered"/>
        <c:varyColors val="0"/>
        <c:ser>
          <c:idx val="0"/>
          <c:order val="0"/>
          <c:tx>
            <c:strRef>
              <c:f>Sheet1!$B$1</c:f>
              <c:strCache>
                <c:ptCount val="1"/>
                <c:pt idx="0">
                  <c:v>Revenue (M)</c:v>
                </c:pt>
              </c:strCache>
            </c:strRef>
          </c:tx>
          <c:spPr>
            <a:solidFill>
              <a:srgbClr val="0B2545"/>
            </a:solidFill>
            <a:effectLst/>
          </c:spPr>
          <c:invertIfNegative val="0"/>
          <c:dLbls>
            <c:numFmt formatCode="0.0" sourceLinked="0"/>
            <c:txPr>
              <a:bodyPr/>
              <a:lstStyle/>
              <a:p>
                <a:pPr>
                  <a:defRPr b="0" i="0" strike="noStrike" sz="1100" u="none">
                    <a:solidFill>
                      <a:srgbClr val="0B2545"/>
                    </a:solidFill>
                    <a:latin typeface="+mn-lt"/>
                  </a:defRPr>
                </a:pPr>
              </a:p>
            </c:txPr>
            <c:showLegendKey val="0"/>
            <c:showVal val="1"/>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14</c:v>
                </c:pt>
                <c:pt idx="1">
                  <c:v>13.8</c:v>
                </c:pt>
                <c:pt idx="2">
                  <c:v>14.2</c:v>
                </c:pt>
                <c:pt idx="3">
                  <c:v>13.3</c:v>
                </c:pt>
              </c:numCache>
            </c:numRef>
          </c:val>
        </c:ser>
        <c:dLbls>
          <c:numFmt formatCode="0.0" sourceLinked="0"/>
          <c:txPr>
            <a:bodyPr/>
            <a:lstStyle/>
            <a:p>
              <a:pPr>
                <a:defRPr b="0" i="0" strike="noStrike" sz="1100" u="none">
                  <a:solidFill>
                    <a:srgbClr val="0B2545"/>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7F"/>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6350" cap="flat">
              <a:solidFill>
                <a:srgbClr val="E3E8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7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545"/>
                </a:solidFill>
                <a:latin typeface="Arial"/>
              </a:defRPr>
            </a:pPr>
            <a:r>
              <a:rPr sz="1300" b="0" i="0" u="none" strike="noStrike">
                <a:solidFill>
                  <a:srgbClr val="0B2545"/>
                </a:solidFill>
                <a:latin typeface="Arial"/>
              </a:rPr>
              <a:t>Revenue by job (M)</a:t>
            </a:r>
          </a:p>
        </c:rich>
      </c:tx>
      <c:layout/>
      <c:overlay val="0"/>
    </c:title>
    <c:autoTitleDeleted val="0"/>
    <c:plotArea>
      <c:layout/>
      <c:barChart>
        <c:barDir val="bar"/>
        <c:grouping val="clustered"/>
        <c:varyColors val="0"/>
        <c:ser>
          <c:idx val="0"/>
          <c:order val="0"/>
          <c:tx>
            <c:strRef>
              <c:f>Sheet1!$B$1</c:f>
              <c:strCache>
                <c:ptCount val="1"/>
                <c:pt idx="0">
                  <c:v>Revenue (M)</c:v>
                </c:pt>
              </c:strCache>
            </c:strRef>
          </c:tx>
          <c:spPr>
            <a:solidFill>
              <a:srgbClr val="1E88E5"/>
            </a:solidFill>
            <a:effectLst/>
          </c:spPr>
          <c:invertIfNegative val="0"/>
          <c:dLbls>
            <c:numFmt formatCode="0.0" sourceLinked="0"/>
            <c:txPr>
              <a:bodyPr/>
              <a:lstStyle/>
              <a:p>
                <a:pPr>
                  <a:defRPr b="0" i="0" strike="noStrike" sz="1100" u="none">
                    <a:solidFill>
                      <a:srgbClr val="0B2545"/>
                    </a:solidFill>
                    <a:latin typeface="+mn-lt"/>
                  </a:defRPr>
                </a:pPr>
              </a:p>
            </c:txPr>
            <c:showLegendKey val="0"/>
            <c:showVal val="1"/>
            <c:showCatName val="0"/>
            <c:showSerName val="0"/>
            <c:showPercent val="0"/>
            <c:showBubbleSize val="0"/>
            <c:showLeaderLines val="0"/>
          </c:dLbls>
          <c:cat>
            <c:multiLvlStrRef>
              <c:f>Sheet1!$A$2:$A$7</c:f>
              <c:multiLvlStrCache>
                <c:ptCount val="6"/>
                <c:lvl>
                  <c:pt idx="0">
                    <c:v>Businessman</c:v>
                  </c:pt>
                  <c:pt idx="1">
                    <c:v>White-collar</c:v>
                  </c:pt>
                  <c:pt idx="2">
                    <c:v>Self-employed</c:v>
                  </c:pt>
                  <c:pt idx="3">
                    <c:v>Govt</c:v>
                  </c:pt>
                  <c:pt idx="4">
                    <c:v>Blue-collar</c:v>
                  </c:pt>
                  <c:pt idx="5">
                    <c:v>Retirees</c:v>
                  </c:pt>
                </c:lvl>
              </c:multiLvlStrCache>
            </c:multiLvlStrRef>
          </c:cat>
          <c:val>
            <c:numRef>
              <c:f>Sheet1!$B$2:$B$7</c:f>
              <c:numCache>
                <c:formatCode>General</c:formatCode>
                <c:ptCount val="6"/>
                <c:pt idx="0">
                  <c:v>17.4</c:v>
                </c:pt>
                <c:pt idx="1">
                  <c:v>10.1</c:v>
                </c:pt>
                <c:pt idx="2">
                  <c:v>8.3</c:v>
                </c:pt>
                <c:pt idx="3">
                  <c:v>8.1</c:v>
                </c:pt>
                <c:pt idx="4">
                  <c:v>6.9</c:v>
                </c:pt>
                <c:pt idx="5">
                  <c:v>4.5</c:v>
                </c:pt>
              </c:numCache>
            </c:numRef>
          </c:val>
        </c:ser>
        <c:dLbls>
          <c:numFmt formatCode="0.0" sourceLinked="0"/>
          <c:txPr>
            <a:bodyPr/>
            <a:lstStyle/>
            <a:p>
              <a:pPr>
                <a:defRPr b="0" i="0" strike="noStrike" sz="1100" u="none">
                  <a:solidFill>
                    <a:srgbClr val="0B2545"/>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B7F"/>
                </a:solidFill>
                <a:latin typeface="+mn-lt"/>
              </a:defRPr>
            </a:pPr>
            <a:endParaRPr lang="en-US"/>
          </a:p>
        </c:txPr>
        <c:crossAx val="2094734552"/>
        <c:crosses val="autoZero"/>
        <c:auto val="1"/>
        <c:lblAlgn val="ctr"/>
        <c:noMultiLvlLbl val="1"/>
      </c:catAx>
      <c:valAx>
        <c:axId val="2094734552"/>
        <c:scaling>
          <c:orientation val="minMax"/>
        </c:scaling>
        <c:delete val="0"/>
        <c:axPos val="b"/>
        <c:majorGridlines>
          <c:spPr>
            <a:ln w="6350" cap="flat">
              <a:solidFill>
                <a:srgbClr val="E3E8E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6B7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545"/>
                </a:solidFill>
                <a:latin typeface="Arial"/>
              </a:defRPr>
            </a:pPr>
            <a:r>
              <a:rPr sz="1300" b="0" i="0" u="none" strike="noStrike">
                <a:solidFill>
                  <a:srgbClr val="0B2545"/>
                </a:solidFill>
                <a:latin typeface="Arial"/>
              </a:rPr>
              <a:t>Revenue by age group (M, approx.)</a:t>
            </a:r>
          </a:p>
        </c:rich>
      </c:tx>
      <c:layout/>
      <c:overlay val="0"/>
    </c:title>
    <c:autoTitleDeleted val="0"/>
    <c:plotArea>
      <c:layout/>
      <c:barChart>
        <c:barDir val="col"/>
        <c:grouping val="clustered"/>
        <c:varyColors val="0"/>
        <c:ser>
          <c:idx val="0"/>
          <c:order val="0"/>
          <c:tx>
            <c:strRef>
              <c:f>Sheet1!$B$1</c:f>
              <c:strCache>
                <c:ptCount val="1"/>
                <c:pt idx="0">
                  <c:v>Revenue (M)</c:v>
                </c:pt>
              </c:strCache>
            </c:strRef>
          </c:tx>
          <c:spPr>
            <a:solidFill>
              <a:srgbClr val="0B2545"/>
            </a:solidFill>
            <a:effectLst/>
          </c:spPr>
          <c:invertIfNegative val="0"/>
          <c:dLbls>
            <c:numFmt formatCode="#,##0" sourceLinked="0"/>
            <c:txPr>
              <a:bodyPr/>
              <a:lstStyle/>
              <a:p>
                <a:pPr>
                  <a:defRPr b="0" i="0" strike="noStrike" sz="1100" u="none">
                    <a:solidFill>
                      <a:srgbClr val="0B2545"/>
                    </a:solidFill>
                    <a:latin typeface="+mn-lt"/>
                  </a:defRPr>
                </a:pPr>
              </a:p>
            </c:txPr>
            <c:showLegendKey val="0"/>
            <c:showVal val="1"/>
            <c:showCatName val="0"/>
            <c:showSerName val="0"/>
            <c:showPercent val="0"/>
            <c:showBubbleSize val="0"/>
            <c:showLeaderLines val="0"/>
          </c:dLbls>
          <c:cat>
            <c:multiLvlStrRef>
              <c:f>Sheet1!$A$2:$A$5</c:f>
              <c:multiLvlStrCache>
                <c:ptCount val="4"/>
                <c:lvl>
                  <c:pt idx="0">
                    <c:v>20-30</c:v>
                  </c:pt>
                  <c:pt idx="1">
                    <c:v>30-40</c:v>
                  </c:pt>
                  <c:pt idx="2">
                    <c:v>40-50</c:v>
                  </c:pt>
                  <c:pt idx="3">
                    <c:v>60+</c:v>
                  </c:pt>
                </c:lvl>
              </c:multiLvlStrCache>
            </c:multiLvlStrRef>
          </c:cat>
          <c:val>
            <c:numRef>
              <c:f>Sheet1!$B$2:$B$5</c:f>
              <c:numCache>
                <c:formatCode>General</c:formatCode>
                <c:ptCount val="4"/>
                <c:pt idx="0">
                  <c:v>0.5</c:v>
                </c:pt>
                <c:pt idx="1">
                  <c:v>9</c:v>
                </c:pt>
                <c:pt idx="2">
                  <c:v>42</c:v>
                </c:pt>
                <c:pt idx="3">
                  <c:v>1</c:v>
                </c:pt>
              </c:numCache>
            </c:numRef>
          </c:val>
        </c:ser>
        <c:dLbls>
          <c:numFmt formatCode="#,##0" sourceLinked="0"/>
          <c:txPr>
            <a:bodyPr/>
            <a:lstStyle/>
            <a:p>
              <a:pPr>
                <a:defRPr b="0" i="0" strike="noStrike" sz="1100" u="none">
                  <a:solidFill>
                    <a:srgbClr val="0B2545"/>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7F"/>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7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545"/>
                </a:solidFill>
                <a:latin typeface="Arial"/>
              </a:defRPr>
            </a:pPr>
            <a:r>
              <a:rPr sz="1300" b="0" i="0" u="none" strike="noStrike">
                <a:solidFill>
                  <a:srgbClr val="0B2545"/>
                </a:solidFill>
                <a:latin typeface="Arial"/>
              </a:rPr>
              <a:t>Revenue by expense type (M)</a:t>
            </a:r>
          </a:p>
        </c:rich>
      </c:tx>
      <c:layout/>
      <c:overlay val="0"/>
    </c:title>
    <c:autoTitleDeleted val="0"/>
    <c:plotArea>
      <c:layout/>
      <c:barChart>
        <c:barDir val="bar"/>
        <c:grouping val="clustered"/>
        <c:varyColors val="0"/>
        <c:ser>
          <c:idx val="0"/>
          <c:order val="0"/>
          <c:tx>
            <c:strRef>
              <c:f>Sheet1!$B$1</c:f>
              <c:strCache>
                <c:ptCount val="1"/>
                <c:pt idx="0">
                  <c:v>Revenue (M)</c:v>
                </c:pt>
              </c:strCache>
            </c:strRef>
          </c:tx>
          <c:spPr>
            <a:solidFill>
              <a:srgbClr val="1E88E5"/>
            </a:solidFill>
            <a:effectLst/>
          </c:spPr>
          <c:invertIfNegative val="0"/>
          <c:dLbls>
            <c:numFmt formatCode="#,##0" sourceLinked="0"/>
            <c:txPr>
              <a:bodyPr/>
              <a:lstStyle/>
              <a:p>
                <a:pPr>
                  <a:defRPr b="0" i="0" strike="noStrike" sz="1100" u="none">
                    <a:solidFill>
                      <a:srgbClr val="0B2545"/>
                    </a:solidFill>
                    <a:latin typeface="+mn-lt"/>
                  </a:defRPr>
                </a:pPr>
              </a:p>
            </c:txPr>
            <c:showLegendKey val="0"/>
            <c:showVal val="1"/>
            <c:showCatName val="0"/>
            <c:showSerName val="0"/>
            <c:showPercent val="0"/>
            <c:showBubbleSize val="0"/>
            <c:showLeaderLines val="0"/>
          </c:dLbls>
          <c:cat>
            <c:multiLvlStrRef>
              <c:f>Sheet1!$A$2:$A$7</c:f>
              <c:multiLvlStrCache>
                <c:ptCount val="6"/>
                <c:lvl>
                  <c:pt idx="0">
                    <c:v>Bills</c:v>
                  </c:pt>
                  <c:pt idx="1">
                    <c:v>Entertainment</c:v>
                  </c:pt>
                  <c:pt idx="2">
                    <c:v>Fuel</c:v>
                  </c:pt>
                  <c:pt idx="3">
                    <c:v>Grocery</c:v>
                  </c:pt>
                  <c:pt idx="4">
                    <c:v>Food</c:v>
                  </c:pt>
                  <c:pt idx="5">
                    <c:v>Travel</c:v>
                  </c:pt>
                </c:lvl>
              </c:multiLvlStrCache>
            </c:multiLvlStrRef>
          </c:cat>
          <c:val>
            <c:numRef>
              <c:f>Sheet1!$B$2:$B$7</c:f>
              <c:numCache>
                <c:formatCode>General</c:formatCode>
                <c:ptCount val="6"/>
                <c:pt idx="0">
                  <c:v>14</c:v>
                </c:pt>
                <c:pt idx="1">
                  <c:v>10</c:v>
                </c:pt>
                <c:pt idx="2">
                  <c:v>9</c:v>
                </c:pt>
                <c:pt idx="3">
                  <c:v>9</c:v>
                </c:pt>
                <c:pt idx="4">
                  <c:v>8</c:v>
                </c:pt>
                <c:pt idx="5">
                  <c:v>6</c:v>
                </c:pt>
              </c:numCache>
            </c:numRef>
          </c:val>
        </c:ser>
        <c:dLbls>
          <c:numFmt formatCode="#,##0" sourceLinked="0"/>
          <c:txPr>
            <a:bodyPr/>
            <a:lstStyle/>
            <a:p>
              <a:pPr>
                <a:defRPr b="0" i="0" strike="noStrike" sz="1100" u="none">
                  <a:solidFill>
                    <a:srgbClr val="0B2545"/>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B7F"/>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6B7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545"/>
                </a:solidFill>
                <a:latin typeface="Arial"/>
              </a:defRPr>
            </a:pPr>
            <a:r>
              <a:rPr sz="1300" b="0" i="0" u="none" strike="noStrike">
                <a:solidFill>
                  <a:srgbClr val="0B2545"/>
                </a:solidFill>
                <a:latin typeface="Arial"/>
              </a:rPr>
              <a:t>Revenue by usage method (M)</a:t>
            </a:r>
          </a:p>
        </c:rich>
      </c:tx>
      <c:layout/>
      <c:overlay val="0"/>
    </c:title>
    <c:autoTitleDeleted val="0"/>
    <c:plotArea>
      <c:layout/>
      <c:barChart>
        <c:barDir val="bar"/>
        <c:grouping val="clustered"/>
        <c:varyColors val="0"/>
        <c:ser>
          <c:idx val="0"/>
          <c:order val="0"/>
          <c:tx>
            <c:strRef>
              <c:f>Sheet1!$B$1</c:f>
              <c:strCache>
                <c:ptCount val="1"/>
                <c:pt idx="0">
                  <c:v>Revenue (M)</c:v>
                </c:pt>
              </c:strCache>
            </c:strRef>
          </c:tx>
          <c:spPr>
            <a:solidFill>
              <a:srgbClr val="0B2545"/>
            </a:solidFill>
            <a:effectLst/>
          </c:spPr>
          <c:invertIfNegative val="0"/>
          <c:dLbls>
            <c:numFmt formatCode="#,##0" sourceLinked="0"/>
            <c:txPr>
              <a:bodyPr/>
              <a:lstStyle/>
              <a:p>
                <a:pPr>
                  <a:defRPr b="0" i="0" strike="noStrike" sz="1100" u="none">
                    <a:solidFill>
                      <a:srgbClr val="0B2545"/>
                    </a:solidFill>
                    <a:latin typeface="+mn-lt"/>
                  </a:defRPr>
                </a:pPr>
              </a:p>
            </c:txPr>
            <c:showLegendKey val="0"/>
            <c:showVal val="1"/>
            <c:showCatName val="0"/>
            <c:showSerName val="0"/>
            <c:showPercent val="0"/>
            <c:showBubbleSize val="0"/>
            <c:showLeaderLines val="0"/>
          </c:dLbls>
          <c:cat>
            <c:multiLvlStrRef>
              <c:f>Sheet1!$A$2:$A$4</c:f>
              <c:multiLvlStrCache>
                <c:ptCount val="3"/>
                <c:lvl>
                  <c:pt idx="0">
                    <c:v>Swipe</c:v>
                  </c:pt>
                  <c:pt idx="1">
                    <c:v>Chip</c:v>
                  </c:pt>
                  <c:pt idx="2">
                    <c:v>Online</c:v>
                  </c:pt>
                </c:lvl>
              </c:multiLvlStrCache>
            </c:multiLvlStrRef>
          </c:cat>
          <c:val>
            <c:numRef>
              <c:f>Sheet1!$B$2:$B$4</c:f>
              <c:numCache>
                <c:formatCode>General</c:formatCode>
                <c:ptCount val="3"/>
                <c:pt idx="0">
                  <c:v>35</c:v>
                </c:pt>
                <c:pt idx="1">
                  <c:v>17</c:v>
                </c:pt>
                <c:pt idx="2">
                  <c:v>3</c:v>
                </c:pt>
              </c:numCache>
            </c:numRef>
          </c:val>
        </c:ser>
        <c:dLbls>
          <c:numFmt formatCode="#,##0" sourceLinked="0"/>
          <c:txPr>
            <a:bodyPr/>
            <a:lstStyle/>
            <a:p>
              <a:pPr>
                <a:defRPr b="0" i="0" strike="noStrike" sz="1100" u="none">
                  <a:solidFill>
                    <a:srgbClr val="0B2545"/>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B7F"/>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6B7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2545"/>
                </a:solidFill>
                <a:latin typeface="Arial"/>
              </a:defRPr>
            </a:pPr>
            <a:r>
              <a:rPr sz="1300" b="0" i="0" u="none" strike="noStrike">
                <a:solidFill>
                  <a:srgbClr val="0B2545"/>
                </a:solidFill>
                <a:latin typeface="Arial"/>
              </a:rPr>
              <a:t>Revenue by education (M)</a:t>
            </a:r>
          </a:p>
        </c:rich>
      </c:tx>
      <c:layout/>
      <c:overlay val="0"/>
    </c:title>
    <c:autoTitleDeleted val="0"/>
    <c:plotArea>
      <c:layout/>
      <c:barChart>
        <c:barDir val="bar"/>
        <c:grouping val="clustered"/>
        <c:varyColors val="0"/>
        <c:ser>
          <c:idx val="0"/>
          <c:order val="0"/>
          <c:tx>
            <c:strRef>
              <c:f>Sheet1!$B$1</c:f>
              <c:strCache>
                <c:ptCount val="1"/>
                <c:pt idx="0">
                  <c:v>Revenue (M)</c:v>
                </c:pt>
              </c:strCache>
            </c:strRef>
          </c:tx>
          <c:spPr>
            <a:solidFill>
              <a:srgbClr val="1E88E5"/>
            </a:solidFill>
            <a:effectLst/>
          </c:spPr>
          <c:invertIfNegative val="0"/>
          <c:dLbls>
            <c:numFmt formatCode="#,##0" sourceLinked="0"/>
            <c:txPr>
              <a:bodyPr/>
              <a:lstStyle/>
              <a:p>
                <a:pPr>
                  <a:defRPr b="0" i="0" strike="noStrike" sz="1100" u="none">
                    <a:solidFill>
                      <a:srgbClr val="0B2545"/>
                    </a:solidFill>
                    <a:latin typeface="+mn-lt"/>
                  </a:defRPr>
                </a:pPr>
              </a:p>
            </c:txPr>
            <c:showLegendKey val="0"/>
            <c:showVal val="1"/>
            <c:showCatName val="0"/>
            <c:showSerName val="0"/>
            <c:showPercent val="0"/>
            <c:showBubbleSize val="0"/>
            <c:showLeaderLines val="0"/>
          </c:dLbls>
          <c:cat>
            <c:multiLvlStrRef>
              <c:f>Sheet1!$A$2:$A$7</c:f>
              <c:multiLvlStrCache>
                <c:ptCount val="6"/>
                <c:lvl>
                  <c:pt idx="0">
                    <c:v>Graduate</c:v>
                  </c:pt>
                  <c:pt idx="1">
                    <c:v>High School</c:v>
                  </c:pt>
                  <c:pt idx="2">
                    <c:v>Unknown</c:v>
                  </c:pt>
                  <c:pt idx="3">
                    <c:v>Uneducated</c:v>
                  </c:pt>
                  <c:pt idx="4">
                    <c:v>Post-grad</c:v>
                  </c:pt>
                  <c:pt idx="5">
                    <c:v>Doctorate</c:v>
                  </c:pt>
                </c:lvl>
              </c:multiLvlStrCache>
            </c:multiLvlStrRef>
          </c:cat>
          <c:val>
            <c:numRef>
              <c:f>Sheet1!$B$2:$B$7</c:f>
              <c:numCache>
                <c:formatCode>General</c:formatCode>
                <c:ptCount val="6"/>
                <c:pt idx="0">
                  <c:v>22</c:v>
                </c:pt>
                <c:pt idx="1">
                  <c:v>11</c:v>
                </c:pt>
                <c:pt idx="2">
                  <c:v>8</c:v>
                </c:pt>
                <c:pt idx="3">
                  <c:v>8</c:v>
                </c:pt>
                <c:pt idx="4">
                  <c:v>3</c:v>
                </c:pt>
                <c:pt idx="5">
                  <c:v>2</c:v>
                </c:pt>
              </c:numCache>
            </c:numRef>
          </c:val>
        </c:ser>
        <c:dLbls>
          <c:numFmt formatCode="#,##0" sourceLinked="0"/>
          <c:txPr>
            <a:bodyPr/>
            <a:lstStyle/>
            <a:p>
              <a:pPr>
                <a:defRPr b="0" i="0" strike="noStrike" sz="1100" u="none">
                  <a:solidFill>
                    <a:srgbClr val="0B2545"/>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B7F"/>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B6B7F"/>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 am [Your name]. In this video I will walk you through the Credit Card dashboard I built in Power BI: what data I used, how I built it, and the key insights for the business. It takes about five minutes. You can click the agenda on the next slide to jump to any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agenda. Every item is clickable, so you can jump straight to the section you care about, and every slide has a link back here at the bottom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 was a weekly credit card dashboard giving stakeholders near real-time visibility into performance. I prepared the CSV files, created tables in a SQL database, and imported the data. In Power BI I connected to SQL and used DAX to create two derived fields: age group and income group, so we can segment customers easily.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the portfolio generated 55 million in revenue on 45 million in transaction amount, with 7.84 million in interest earned. Male customers contribute 30 million and female customers 25 million, so slightly more than half of revenue comes from men. Activation rate is 57.5 percent and the delinquency rate is 6.06 percent, which is the number to watch.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Blue cards drive about 83 percent of revenue, 46 of 55 million, while Silver, Gold and Platinum together add under 10 million. Blue and Silver account for 93 percent of all transactions. Quarterly revenue is stable between 13.3 and 14.2 million, peaking in Q3 and dipping in Q4. Q4 is the weakest quarter and also shows the lowest transaction amount.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Looking at who our customers are: Businessmen are the top job segment at 17.4 million, then white-collar at 10.1 million. The 40 to 50 age band is by far the biggest, around 42 million, so roughly three quarters of revenue. High-income customers contribute about 29 million. Geographically Texas, California and New York lead, together roughly 68 percent of revenue.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two dashboard pages. The customer report on the left slices revenue by gender, job, age, income, state and education. The transaction page on the right breaks revenue and transaction amount down by card category and quarter. In Power BI, every visual cross-filters, and slicers for card, quarter, week and education let managers drill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bottom row of the transaction dashboard shows how customers spend. By expenditure type, Bills lead at 14 million, followed by Entertainment at 10 million, with Fuel and Grocery at 9 million each. By usage method, Swipe is dominant at 35 million, Chip is 17 million, and Online is only 3 million, so digital spend is a clear growth opportunity. By education, Graduates bring 22 million and High School 11 million, while Post-graduate and Doctorate are small.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Revenue is concentrated in Blue cards, in the 40 to 50 age group, and in three states. That is a strength but also a risk. My recommendations are to grow Gold and Platinum with targeted offers, to look into why Q4 dips, to monitor the 6 percent delinquency rate, and to push activation from 57.5 percent upward. Happy to take questions and thank you for watching.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 Target="slide3.xml"/><Relationship Id="rId3" Type="http://schemas.openxmlformats.org/officeDocument/2006/relationships/slide" Target="slide3.xml"/><Relationship Id="rId4" Type="http://schemas.openxmlformats.org/officeDocument/2006/relationships/slide" Target="slide4.xml"/><Relationship Id="rId5" Type="http://schemas.openxmlformats.org/officeDocument/2006/relationships/slide" Target="slide4.xml"/><Relationship Id="rId6" Type="http://schemas.openxmlformats.org/officeDocument/2006/relationships/slide" Target="slide5.xml"/><Relationship Id="rId7" Type="http://schemas.openxmlformats.org/officeDocument/2006/relationships/slide" Target="slide5.xml"/><Relationship Id="rId8" Type="http://schemas.openxmlformats.org/officeDocument/2006/relationships/slide" Target="slide6.xml"/><Relationship Id="rId9" Type="http://schemas.openxmlformats.org/officeDocument/2006/relationships/slide" Target="slide6.xml"/><Relationship Id="rId10" Type="http://schemas.openxmlformats.org/officeDocument/2006/relationships/slide" Target="slide7.xml"/><Relationship Id="rId11" Type="http://schemas.openxmlformats.org/officeDocument/2006/relationships/slide" Target="slide7.xml"/><Relationship Id="rId12" Type="http://schemas.openxmlformats.org/officeDocument/2006/relationships/slide" Target="slide8.xml"/><Relationship Id="rId13" Type="http://schemas.openxmlformats.org/officeDocument/2006/relationships/slide" Target="slide8.xml"/><Relationship Id="rId14" Type="http://schemas.openxmlformats.org/officeDocument/2006/relationships/slide" Target="slide9.xml"/><Relationship Id="rId15" Type="http://schemas.openxmlformats.org/officeDocument/2006/relationships/slide" Target="slide9.xml"/><Relationship Id="rId16" Type="http://schemas.openxmlformats.org/officeDocument/2006/relationships/slideLayout" Target="../slideLayouts/slideLayout1.xml"/><Relationship Id="rId1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chart" Target="/ppt/charts/chart1.xm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chart" Target="/ppt/charts/chart4.xml"/><Relationship Id="rId3" Type="http://schemas.openxmlformats.org/officeDocument/2006/relationships/chart" Target="/ppt/charts/chart5.xml"/><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chart" Target="/ppt/charts/chart6.xml"/><Relationship Id="rId3" Type="http://schemas.openxmlformats.org/officeDocument/2006/relationships/chart" Target="/ppt/charts/chart7.xml"/><Relationship Id="rId4" Type="http://schemas.openxmlformats.org/officeDocument/2006/relationships/chart" Target="/ppt/charts/chart8.xml"/><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548640" y="2148840"/>
            <a:ext cx="1097280" cy="64008"/>
          </a:xfrm>
          <a:prstGeom prst="rect">
            <a:avLst/>
          </a:prstGeom>
          <a:solidFill>
            <a:srgbClr val="F5B700"/>
          </a:solidFill>
          <a:ln/>
        </p:spPr>
      </p:sp>
      <p:sp>
        <p:nvSpPr>
          <p:cNvPr id="3" name="Text 1"/>
          <p:cNvSpPr txBox="1"/>
          <p:nvPr/>
        </p:nvSpPr>
        <p:spPr>
          <a:xfrm>
            <a:off x="548640" y="822960"/>
            <a:ext cx="8046720" cy="1280160"/>
          </a:xfrm>
          <a:prstGeom prst="rect">
            <a:avLst/>
          </a:prstGeom>
          <a:noFill/>
          <a:ln/>
        </p:spPr>
        <p:txBody>
          <a:bodyPr wrap="square" lIns="0" tIns="0" rIns="0" bIns="0" rtlCol="0" anchor="b"/>
          <a:lstStyle/>
          <a:p>
            <a:pPr indent="0" marL="0">
              <a:buNone/>
            </a:pPr>
            <a:r>
              <a:rPr lang="en-US" sz="3800" b="1" dirty="0">
                <a:solidFill>
                  <a:srgbClr val="FFFFFF"/>
                </a:solidFill>
              </a:rPr>
              <a:t>Credit Card Customer &amp; Transaction Analysis</a:t>
            </a:r>
            <a:endParaRPr lang="en-US" sz="3800" dirty="0"/>
          </a:p>
        </p:txBody>
      </p:sp>
      <p:sp>
        <p:nvSpPr>
          <p:cNvPr id="4" name="Text 2"/>
          <p:cNvSpPr txBox="1"/>
          <p:nvPr/>
        </p:nvSpPr>
        <p:spPr>
          <a:xfrm>
            <a:off x="548640" y="2377440"/>
            <a:ext cx="8046720" cy="457200"/>
          </a:xfrm>
          <a:prstGeom prst="rect">
            <a:avLst/>
          </a:prstGeom>
          <a:noFill/>
          <a:ln/>
        </p:spPr>
        <p:txBody>
          <a:bodyPr wrap="square" lIns="0" tIns="0" rIns="0" bIns="0" rtlCol="0" anchor="ctr"/>
          <a:lstStyle/>
          <a:p>
            <a:pPr indent="0" marL="0">
              <a:buNone/>
            </a:pPr>
            <a:r>
              <a:rPr lang="en-US" sz="1800" dirty="0">
                <a:solidFill>
                  <a:srgbClr val="BFD7F2"/>
                </a:solidFill>
              </a:rPr>
              <a:t>Weekly Power BI dashboard  |  SQL → DAX → Interactive insights</a:t>
            </a:r>
            <a:endParaRPr lang="en-US" sz="1800" dirty="0"/>
          </a:p>
        </p:txBody>
      </p:sp>
      <p:sp>
        <p:nvSpPr>
          <p:cNvPr id="5" name="Text 3"/>
          <p:cNvSpPr txBox="1"/>
          <p:nvPr/>
        </p:nvSpPr>
        <p:spPr>
          <a:xfrm>
            <a:off x="548640" y="4297680"/>
            <a:ext cx="8046720" cy="365760"/>
          </a:xfrm>
          <a:prstGeom prst="rect">
            <a:avLst/>
          </a:prstGeom>
          <a:noFill/>
          <a:ln/>
        </p:spPr>
        <p:txBody>
          <a:bodyPr wrap="square" lIns="0" tIns="0" rIns="0" bIns="0" rtlCol="0" anchor="ctr"/>
          <a:lstStyle/>
          <a:p>
            <a:pPr indent="0" marL="0">
              <a:buNone/>
            </a:pPr>
            <a:r>
              <a:rPr lang="en-US" sz="1200" dirty="0">
                <a:solidFill>
                  <a:srgbClr val="8FB0D6"/>
                </a:solidFill>
              </a:rPr>
              <a:t>Prepared for: [Manager name]   |   Presented by: [Your name]   |   October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Header"/>
          <p:cNvSpPr/>
          <p:nvPr/>
        </p:nvSpPr>
        <p:spPr>
          <a:xfrm>
            <a:off x="0" y="0"/>
            <a:ext cx="9144000" cy="822960"/>
          </a:xfrm>
          <a:prstGeom prst="rect">
            <a:avLst/>
          </a:prstGeom>
          <a:solidFill>
            <a:srgbClr val="0B2545"/>
          </a:solidFill>
          <a:ln/>
        </p:spPr>
      </p:sp>
      <p:sp>
        <p:nvSpPr>
          <p:cNvPr id="3" name="Text 1"/>
          <p:cNvSpPr txBox="1"/>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rPr>
              <a:t>Agenda  (click any item to jump)</a:t>
            </a:r>
            <a:endParaRPr lang="en-US" sz="2400" dirty="0"/>
          </a:p>
        </p:txBody>
      </p:sp>
      <p:sp>
        <p:nvSpPr>
          <p:cNvPr id="5" name="Text 2">
            <a:hlinkClick r:id="rId1" tooltip="Back to agenda" action="ppaction://hlinksldjump"/>
          </p:cNvPr>
          <p:cNvSpPr txBox="1"/>
          <p:nvPr/>
        </p:nvSpPr>
        <p:spPr>
          <a:xfrm>
            <a:off x="7863840" y="4800600"/>
            <a:ext cx="1097280" cy="256032"/>
          </a:xfrm>
          <a:prstGeom prst="rect">
            <a:avLst/>
          </a:prstGeom>
          <a:noFill/>
          <a:ln/>
        </p:spPr>
        <p:txBody>
          <a:bodyPr wrap="square" lIns="0" tIns="0" rIns="0" bIns="0" rtlCol="0" anchor="ctr"/>
          <a:lstStyle/>
          <a:p>
            <a:pPr algn="r" indent="0" marL="0">
              <a:buNone/>
            </a:pPr>
            <a:r>
              <a:rPr lang="en-US" sz="1000" u="sng" dirty="0">
                <a:solidFill>
                  <a:srgbClr val="1E88E5"/>
                </a:solidFill>
                <a:hlinkClick r:id="rId1" action="ppaction://hlinksldjump" tooltip="Back to agenda">
                  <a:extLst>
                    <a:ext uri="{A12FA001-AC4F-418D-AE19-62706E023703}">
                      <ahyp:hlinkClr xmlns:ahyp="http://schemas.microsoft.com/office/drawing/2018/hyperlinkcolor" val="tx"/>
                    </a:ext>
                  </a:extLst>
                </a:hlinkClick>
              </a:rPr>
              <a:t>◂ Agenda</a:t>
            </a:r>
            <a:endParaRPr lang="en-US" sz="1000" dirty="0"/>
          </a:p>
        </p:txBody>
      </p:sp>
      <p:sp>
        <p:nvSpPr>
          <p:cNvPr id="6" name="Text 3"/>
          <p:cNvSpPr txBox="1"/>
          <p:nvPr/>
        </p:nvSpPr>
        <p:spPr>
          <a:xfrm>
            <a:off x="365760" y="4800600"/>
            <a:ext cx="457200" cy="256032"/>
          </a:xfrm>
          <a:prstGeom prst="rect">
            <a:avLst/>
          </a:prstGeom>
          <a:noFill/>
          <a:ln/>
        </p:spPr>
        <p:txBody>
          <a:bodyPr wrap="square" lIns="0" tIns="0" rIns="0" bIns="0" rtlCol="0" anchor="ctr"/>
          <a:lstStyle/>
          <a:p>
            <a:pPr indent="0" marL="0">
              <a:buNone/>
            </a:pPr>
            <a:r>
              <a:rPr lang="en-US" sz="1000" dirty="0">
                <a:solidFill>
                  <a:srgbClr val="5B6B7F"/>
                </a:solidFill>
              </a:rPr>
              <a:t>2</a:t>
            </a:r>
            <a:endParaRPr lang="en-US" sz="1000" dirty="0"/>
          </a:p>
        </p:txBody>
      </p:sp>
      <p:sp>
        <p:nvSpPr>
          <p:cNvPr id="7" name="Nav Objective &amp; data pipeline">
            <a:hlinkClick r:id="rId2" tooltip="" action="ppaction://hlinksldjump"/>
          </p:cNvPr>
          <p:cNvSpPr/>
          <p:nvPr/>
        </p:nvSpPr>
        <p:spPr>
          <a:xfrm>
            <a:off x="731520" y="1005840"/>
            <a:ext cx="7680960" cy="438912"/>
          </a:xfrm>
          <a:prstGeom prst="roundRect">
            <a:avLst>
              <a:gd name="adj" fmla="val 16667"/>
            </a:avLst>
          </a:prstGeom>
          <a:solidFill>
            <a:srgbClr val="EAF2FB"/>
          </a:solidFill>
          <a:ln w="12700">
            <a:solidFill>
              <a:srgbClr val="1E88E5"/>
            </a:solidFill>
            <a:prstDash val="solid"/>
          </a:ln>
        </p:spPr>
      </p:sp>
      <p:sp>
        <p:nvSpPr>
          <p:cNvPr id="8" name="Text 5"/>
          <p:cNvSpPr txBox="1"/>
          <p:nvPr/>
        </p:nvSpPr>
        <p:spPr>
          <a:xfrm>
            <a:off x="868680" y="1005840"/>
            <a:ext cx="457200" cy="438912"/>
          </a:xfrm>
          <a:prstGeom prst="rect">
            <a:avLst/>
          </a:prstGeom>
          <a:noFill/>
          <a:ln/>
        </p:spPr>
        <p:txBody>
          <a:bodyPr wrap="square" lIns="0" tIns="0" rIns="0" bIns="0" rtlCol="0" anchor="ctr"/>
          <a:lstStyle/>
          <a:p>
            <a:pPr indent="0" marL="0">
              <a:buNone/>
            </a:pPr>
            <a:r>
              <a:rPr lang="en-US" sz="1800" b="1" dirty="0">
                <a:solidFill>
                  <a:srgbClr val="1E88E5"/>
                </a:solidFill>
              </a:rPr>
              <a:t>1</a:t>
            </a:r>
            <a:endParaRPr lang="en-US" sz="1800" dirty="0"/>
          </a:p>
        </p:txBody>
      </p:sp>
      <p:sp>
        <p:nvSpPr>
          <p:cNvPr id="9" name="Text 6">
            <a:hlinkClick r:id="rId3" tooltip="" action="ppaction://hlinksldjump"/>
          </p:cNvPr>
          <p:cNvSpPr txBox="1"/>
          <p:nvPr/>
        </p:nvSpPr>
        <p:spPr>
          <a:xfrm>
            <a:off x="1371600" y="1005840"/>
            <a:ext cx="6858000" cy="438912"/>
          </a:xfrm>
          <a:prstGeom prst="rect">
            <a:avLst/>
          </a:prstGeom>
          <a:noFill/>
          <a:ln/>
        </p:spPr>
        <p:txBody>
          <a:bodyPr wrap="square" lIns="0" tIns="0" rIns="0" bIns="0" rtlCol="0" anchor="ctr"/>
          <a:lstStyle/>
          <a:p>
            <a:pPr indent="0" marL="0">
              <a:buNone/>
            </a:pPr>
            <a:r>
              <a:rPr lang="en-US" sz="1700" u="sng" dirty="0">
                <a:solidFill>
                  <a:srgbClr val="0B2545"/>
                </a:solidFill>
                <a:hlinkClick r:id="rId3" action="ppaction://hlinksldjump" tooltip="">
                  <a:extLst>
                    <a:ext uri="{A12FA001-AC4F-418D-AE19-62706E023703}">
                      <ahyp:hlinkClr xmlns:ahyp="http://schemas.microsoft.com/office/drawing/2018/hyperlinkcolor" val="tx"/>
                    </a:ext>
                  </a:extLst>
                </a:hlinkClick>
              </a:rPr>
              <a:t>Objective &amp; data pipeline</a:t>
            </a:r>
            <a:endParaRPr lang="en-US" sz="1700" dirty="0"/>
          </a:p>
        </p:txBody>
      </p:sp>
      <p:sp>
        <p:nvSpPr>
          <p:cNvPr id="10" name="Nav Headline KPIs">
            <a:hlinkClick r:id="rId4" tooltip="" action="ppaction://hlinksldjump"/>
          </p:cNvPr>
          <p:cNvSpPr/>
          <p:nvPr/>
        </p:nvSpPr>
        <p:spPr>
          <a:xfrm>
            <a:off x="731520" y="1536192"/>
            <a:ext cx="7680960" cy="438912"/>
          </a:xfrm>
          <a:prstGeom prst="roundRect">
            <a:avLst>
              <a:gd name="adj" fmla="val 16667"/>
            </a:avLst>
          </a:prstGeom>
          <a:solidFill>
            <a:srgbClr val="EAF2FB"/>
          </a:solidFill>
          <a:ln w="12700">
            <a:solidFill>
              <a:srgbClr val="1E88E5"/>
            </a:solidFill>
            <a:prstDash val="solid"/>
          </a:ln>
        </p:spPr>
      </p:sp>
      <p:sp>
        <p:nvSpPr>
          <p:cNvPr id="11" name="Text 8"/>
          <p:cNvSpPr txBox="1"/>
          <p:nvPr/>
        </p:nvSpPr>
        <p:spPr>
          <a:xfrm>
            <a:off x="868680" y="1536192"/>
            <a:ext cx="457200" cy="438912"/>
          </a:xfrm>
          <a:prstGeom prst="rect">
            <a:avLst/>
          </a:prstGeom>
          <a:noFill/>
          <a:ln/>
        </p:spPr>
        <p:txBody>
          <a:bodyPr wrap="square" lIns="0" tIns="0" rIns="0" bIns="0" rtlCol="0" anchor="ctr"/>
          <a:lstStyle/>
          <a:p>
            <a:pPr indent="0" marL="0">
              <a:buNone/>
            </a:pPr>
            <a:r>
              <a:rPr lang="en-US" sz="1800" b="1" dirty="0">
                <a:solidFill>
                  <a:srgbClr val="1E88E5"/>
                </a:solidFill>
              </a:rPr>
              <a:t>2</a:t>
            </a:r>
            <a:endParaRPr lang="en-US" sz="1800" dirty="0"/>
          </a:p>
        </p:txBody>
      </p:sp>
      <p:sp>
        <p:nvSpPr>
          <p:cNvPr id="12" name="Text 9">
            <a:hlinkClick r:id="rId5" tooltip="" action="ppaction://hlinksldjump"/>
          </p:cNvPr>
          <p:cNvSpPr txBox="1"/>
          <p:nvPr/>
        </p:nvSpPr>
        <p:spPr>
          <a:xfrm>
            <a:off x="1371600" y="1536192"/>
            <a:ext cx="6858000" cy="438912"/>
          </a:xfrm>
          <a:prstGeom prst="rect">
            <a:avLst/>
          </a:prstGeom>
          <a:noFill/>
          <a:ln/>
        </p:spPr>
        <p:txBody>
          <a:bodyPr wrap="square" lIns="0" tIns="0" rIns="0" bIns="0" rtlCol="0" anchor="ctr"/>
          <a:lstStyle/>
          <a:p>
            <a:pPr indent="0" marL="0">
              <a:buNone/>
            </a:pPr>
            <a:r>
              <a:rPr lang="en-US" sz="1700" u="sng" dirty="0">
                <a:solidFill>
                  <a:srgbClr val="0B2545"/>
                </a:solidFill>
                <a:hlinkClick r:id="rId5" action="ppaction://hlinksldjump" tooltip="">
                  <a:extLst>
                    <a:ext uri="{A12FA001-AC4F-418D-AE19-62706E023703}">
                      <ahyp:hlinkClr xmlns:ahyp="http://schemas.microsoft.com/office/drawing/2018/hyperlinkcolor" val="tx"/>
                    </a:ext>
                  </a:extLst>
                </a:hlinkClick>
              </a:rPr>
              <a:t>Headline KPIs</a:t>
            </a:r>
            <a:endParaRPr lang="en-US" sz="1700" dirty="0"/>
          </a:p>
        </p:txBody>
      </p:sp>
      <p:sp>
        <p:nvSpPr>
          <p:cNvPr id="13" name="Nav Card category &amp; quarterly trend">
            <a:hlinkClick r:id="rId6" tooltip="" action="ppaction://hlinksldjump"/>
          </p:cNvPr>
          <p:cNvSpPr/>
          <p:nvPr/>
        </p:nvSpPr>
        <p:spPr>
          <a:xfrm>
            <a:off x="731520" y="2066544"/>
            <a:ext cx="7680960" cy="438912"/>
          </a:xfrm>
          <a:prstGeom prst="roundRect">
            <a:avLst>
              <a:gd name="adj" fmla="val 16667"/>
            </a:avLst>
          </a:prstGeom>
          <a:solidFill>
            <a:srgbClr val="EAF2FB"/>
          </a:solidFill>
          <a:ln w="12700">
            <a:solidFill>
              <a:srgbClr val="1E88E5"/>
            </a:solidFill>
            <a:prstDash val="solid"/>
          </a:ln>
        </p:spPr>
      </p:sp>
      <p:sp>
        <p:nvSpPr>
          <p:cNvPr id="14" name="Text 11"/>
          <p:cNvSpPr txBox="1"/>
          <p:nvPr/>
        </p:nvSpPr>
        <p:spPr>
          <a:xfrm>
            <a:off x="868680" y="2066544"/>
            <a:ext cx="457200" cy="438912"/>
          </a:xfrm>
          <a:prstGeom prst="rect">
            <a:avLst/>
          </a:prstGeom>
          <a:noFill/>
          <a:ln/>
        </p:spPr>
        <p:txBody>
          <a:bodyPr wrap="square" lIns="0" tIns="0" rIns="0" bIns="0" rtlCol="0" anchor="ctr"/>
          <a:lstStyle/>
          <a:p>
            <a:pPr indent="0" marL="0">
              <a:buNone/>
            </a:pPr>
            <a:r>
              <a:rPr lang="en-US" sz="1800" b="1" dirty="0">
                <a:solidFill>
                  <a:srgbClr val="1E88E5"/>
                </a:solidFill>
              </a:rPr>
              <a:t>3</a:t>
            </a:r>
            <a:endParaRPr lang="en-US" sz="1800" dirty="0"/>
          </a:p>
        </p:txBody>
      </p:sp>
      <p:sp>
        <p:nvSpPr>
          <p:cNvPr id="15" name="Text 12">
            <a:hlinkClick r:id="rId7" tooltip="" action="ppaction://hlinksldjump"/>
          </p:cNvPr>
          <p:cNvSpPr txBox="1"/>
          <p:nvPr/>
        </p:nvSpPr>
        <p:spPr>
          <a:xfrm>
            <a:off x="1371600" y="2066544"/>
            <a:ext cx="6858000" cy="438912"/>
          </a:xfrm>
          <a:prstGeom prst="rect">
            <a:avLst/>
          </a:prstGeom>
          <a:noFill/>
          <a:ln/>
        </p:spPr>
        <p:txBody>
          <a:bodyPr wrap="square" lIns="0" tIns="0" rIns="0" bIns="0" rtlCol="0" anchor="ctr"/>
          <a:lstStyle/>
          <a:p>
            <a:pPr indent="0" marL="0">
              <a:buNone/>
            </a:pPr>
            <a:r>
              <a:rPr lang="en-US" sz="1700" u="sng" dirty="0">
                <a:solidFill>
                  <a:srgbClr val="0B2545"/>
                </a:solidFill>
                <a:hlinkClick r:id="rId7" action="ppaction://hlinksldjump" tooltip="">
                  <a:extLst>
                    <a:ext uri="{A12FA001-AC4F-418D-AE19-62706E023703}">
                      <ahyp:hlinkClr xmlns:ahyp="http://schemas.microsoft.com/office/drawing/2018/hyperlinkcolor" val="tx"/>
                    </a:ext>
                  </a:extLst>
                </a:hlinkClick>
              </a:rPr>
              <a:t>Card category &amp; quarterly trend</a:t>
            </a:r>
            <a:endParaRPr lang="en-US" sz="1700" dirty="0"/>
          </a:p>
        </p:txBody>
      </p:sp>
      <p:sp>
        <p:nvSpPr>
          <p:cNvPr id="16" name="Nav Customer segments">
            <a:hlinkClick r:id="rId8" tooltip="" action="ppaction://hlinksldjump"/>
          </p:cNvPr>
          <p:cNvSpPr/>
          <p:nvPr/>
        </p:nvSpPr>
        <p:spPr>
          <a:xfrm>
            <a:off x="731520" y="2596896"/>
            <a:ext cx="7680960" cy="438912"/>
          </a:xfrm>
          <a:prstGeom prst="roundRect">
            <a:avLst>
              <a:gd name="adj" fmla="val 16667"/>
            </a:avLst>
          </a:prstGeom>
          <a:solidFill>
            <a:srgbClr val="EAF2FB"/>
          </a:solidFill>
          <a:ln w="12700">
            <a:solidFill>
              <a:srgbClr val="1E88E5"/>
            </a:solidFill>
            <a:prstDash val="solid"/>
          </a:ln>
        </p:spPr>
      </p:sp>
      <p:sp>
        <p:nvSpPr>
          <p:cNvPr id="17" name="Text 14"/>
          <p:cNvSpPr txBox="1"/>
          <p:nvPr/>
        </p:nvSpPr>
        <p:spPr>
          <a:xfrm>
            <a:off x="868680" y="2596896"/>
            <a:ext cx="457200" cy="438912"/>
          </a:xfrm>
          <a:prstGeom prst="rect">
            <a:avLst/>
          </a:prstGeom>
          <a:noFill/>
          <a:ln/>
        </p:spPr>
        <p:txBody>
          <a:bodyPr wrap="square" lIns="0" tIns="0" rIns="0" bIns="0" rtlCol="0" anchor="ctr"/>
          <a:lstStyle/>
          <a:p>
            <a:pPr indent="0" marL="0">
              <a:buNone/>
            </a:pPr>
            <a:r>
              <a:rPr lang="en-US" sz="1800" b="1" dirty="0">
                <a:solidFill>
                  <a:srgbClr val="1E88E5"/>
                </a:solidFill>
              </a:rPr>
              <a:t>4</a:t>
            </a:r>
            <a:endParaRPr lang="en-US" sz="1800" dirty="0"/>
          </a:p>
        </p:txBody>
      </p:sp>
      <p:sp>
        <p:nvSpPr>
          <p:cNvPr id="18" name="Text 15">
            <a:hlinkClick r:id="rId9" tooltip="" action="ppaction://hlinksldjump"/>
          </p:cNvPr>
          <p:cNvSpPr txBox="1"/>
          <p:nvPr/>
        </p:nvSpPr>
        <p:spPr>
          <a:xfrm>
            <a:off x="1371600" y="2596896"/>
            <a:ext cx="6858000" cy="438912"/>
          </a:xfrm>
          <a:prstGeom prst="rect">
            <a:avLst/>
          </a:prstGeom>
          <a:noFill/>
          <a:ln/>
        </p:spPr>
        <p:txBody>
          <a:bodyPr wrap="square" lIns="0" tIns="0" rIns="0" bIns="0" rtlCol="0" anchor="ctr"/>
          <a:lstStyle/>
          <a:p>
            <a:pPr indent="0" marL="0">
              <a:buNone/>
            </a:pPr>
            <a:r>
              <a:rPr lang="en-US" sz="1700" u="sng" dirty="0">
                <a:solidFill>
                  <a:srgbClr val="0B2545"/>
                </a:solidFill>
                <a:hlinkClick r:id="rId9" action="ppaction://hlinksldjump" tooltip="">
                  <a:extLst>
                    <a:ext uri="{A12FA001-AC4F-418D-AE19-62706E023703}">
                      <ahyp:hlinkClr xmlns:ahyp="http://schemas.microsoft.com/office/drawing/2018/hyperlinkcolor" val="tx"/>
                    </a:ext>
                  </a:extLst>
                </a:hlinkClick>
              </a:rPr>
              <a:t>Customer segments</a:t>
            </a:r>
            <a:endParaRPr lang="en-US" sz="1700" dirty="0"/>
          </a:p>
        </p:txBody>
      </p:sp>
      <p:sp>
        <p:nvSpPr>
          <p:cNvPr id="19" name="Nav Live dashboard views">
            <a:hlinkClick r:id="rId10" tooltip="" action="ppaction://hlinksldjump"/>
          </p:cNvPr>
          <p:cNvSpPr/>
          <p:nvPr/>
        </p:nvSpPr>
        <p:spPr>
          <a:xfrm>
            <a:off x="731520" y="3127248"/>
            <a:ext cx="7680960" cy="438912"/>
          </a:xfrm>
          <a:prstGeom prst="roundRect">
            <a:avLst>
              <a:gd name="adj" fmla="val 16667"/>
            </a:avLst>
          </a:prstGeom>
          <a:solidFill>
            <a:srgbClr val="EAF2FB"/>
          </a:solidFill>
          <a:ln w="12700">
            <a:solidFill>
              <a:srgbClr val="1E88E5"/>
            </a:solidFill>
            <a:prstDash val="solid"/>
          </a:ln>
        </p:spPr>
      </p:sp>
      <p:sp>
        <p:nvSpPr>
          <p:cNvPr id="20" name="Text 17"/>
          <p:cNvSpPr txBox="1"/>
          <p:nvPr/>
        </p:nvSpPr>
        <p:spPr>
          <a:xfrm>
            <a:off x="868680" y="3127248"/>
            <a:ext cx="457200" cy="438912"/>
          </a:xfrm>
          <a:prstGeom prst="rect">
            <a:avLst/>
          </a:prstGeom>
          <a:noFill/>
          <a:ln/>
        </p:spPr>
        <p:txBody>
          <a:bodyPr wrap="square" lIns="0" tIns="0" rIns="0" bIns="0" rtlCol="0" anchor="ctr"/>
          <a:lstStyle/>
          <a:p>
            <a:pPr indent="0" marL="0">
              <a:buNone/>
            </a:pPr>
            <a:r>
              <a:rPr lang="en-US" sz="1800" b="1" dirty="0">
                <a:solidFill>
                  <a:srgbClr val="1E88E5"/>
                </a:solidFill>
              </a:rPr>
              <a:t>5</a:t>
            </a:r>
            <a:endParaRPr lang="en-US" sz="1800" dirty="0"/>
          </a:p>
        </p:txBody>
      </p:sp>
      <p:sp>
        <p:nvSpPr>
          <p:cNvPr id="21" name="Text 18">
            <a:hlinkClick r:id="rId11" tooltip="" action="ppaction://hlinksldjump"/>
          </p:cNvPr>
          <p:cNvSpPr txBox="1"/>
          <p:nvPr/>
        </p:nvSpPr>
        <p:spPr>
          <a:xfrm>
            <a:off x="1371600" y="3127248"/>
            <a:ext cx="6858000" cy="438912"/>
          </a:xfrm>
          <a:prstGeom prst="rect">
            <a:avLst/>
          </a:prstGeom>
          <a:noFill/>
          <a:ln/>
        </p:spPr>
        <p:txBody>
          <a:bodyPr wrap="square" lIns="0" tIns="0" rIns="0" bIns="0" rtlCol="0" anchor="ctr"/>
          <a:lstStyle/>
          <a:p>
            <a:pPr indent="0" marL="0">
              <a:buNone/>
            </a:pPr>
            <a:r>
              <a:rPr lang="en-US" sz="1700" u="sng" dirty="0">
                <a:solidFill>
                  <a:srgbClr val="0B2545"/>
                </a:solidFill>
                <a:hlinkClick r:id="rId11" action="ppaction://hlinksldjump" tooltip="">
                  <a:extLst>
                    <a:ext uri="{A12FA001-AC4F-418D-AE19-62706E023703}">
                      <ahyp:hlinkClr xmlns:ahyp="http://schemas.microsoft.com/office/drawing/2018/hyperlinkcolor" val="tx"/>
                    </a:ext>
                  </a:extLst>
                </a:hlinkClick>
              </a:rPr>
              <a:t>Live dashboard views</a:t>
            </a:r>
            <a:endParaRPr lang="en-US" sz="1700" dirty="0"/>
          </a:p>
        </p:txBody>
      </p:sp>
      <p:sp>
        <p:nvSpPr>
          <p:cNvPr id="22" name="Nav Spending behaviour">
            <a:hlinkClick r:id="rId12" tooltip="" action="ppaction://hlinksldjump"/>
          </p:cNvPr>
          <p:cNvSpPr/>
          <p:nvPr/>
        </p:nvSpPr>
        <p:spPr>
          <a:xfrm>
            <a:off x="731520" y="3657600"/>
            <a:ext cx="7680960" cy="438912"/>
          </a:xfrm>
          <a:prstGeom prst="roundRect">
            <a:avLst>
              <a:gd name="adj" fmla="val 16667"/>
            </a:avLst>
          </a:prstGeom>
          <a:solidFill>
            <a:srgbClr val="EAF2FB"/>
          </a:solidFill>
          <a:ln w="12700">
            <a:solidFill>
              <a:srgbClr val="1E88E5"/>
            </a:solidFill>
            <a:prstDash val="solid"/>
          </a:ln>
        </p:spPr>
      </p:sp>
      <p:sp>
        <p:nvSpPr>
          <p:cNvPr id="23" name="Text 20"/>
          <p:cNvSpPr txBox="1"/>
          <p:nvPr/>
        </p:nvSpPr>
        <p:spPr>
          <a:xfrm>
            <a:off x="868680" y="3657600"/>
            <a:ext cx="457200" cy="438912"/>
          </a:xfrm>
          <a:prstGeom prst="rect">
            <a:avLst/>
          </a:prstGeom>
          <a:noFill/>
          <a:ln/>
        </p:spPr>
        <p:txBody>
          <a:bodyPr wrap="square" lIns="0" tIns="0" rIns="0" bIns="0" rtlCol="0" anchor="ctr"/>
          <a:lstStyle/>
          <a:p>
            <a:pPr indent="0" marL="0">
              <a:buNone/>
            </a:pPr>
            <a:r>
              <a:rPr lang="en-US" sz="1800" b="1" dirty="0">
                <a:solidFill>
                  <a:srgbClr val="1E88E5"/>
                </a:solidFill>
              </a:rPr>
              <a:t>6</a:t>
            </a:r>
            <a:endParaRPr lang="en-US" sz="1800" dirty="0"/>
          </a:p>
        </p:txBody>
      </p:sp>
      <p:sp>
        <p:nvSpPr>
          <p:cNvPr id="24" name="Text 21">
            <a:hlinkClick r:id="rId13" tooltip="" action="ppaction://hlinksldjump"/>
          </p:cNvPr>
          <p:cNvSpPr txBox="1"/>
          <p:nvPr/>
        </p:nvSpPr>
        <p:spPr>
          <a:xfrm>
            <a:off x="1371600" y="3657600"/>
            <a:ext cx="6858000" cy="438912"/>
          </a:xfrm>
          <a:prstGeom prst="rect">
            <a:avLst/>
          </a:prstGeom>
          <a:noFill/>
          <a:ln/>
        </p:spPr>
        <p:txBody>
          <a:bodyPr wrap="square" lIns="0" tIns="0" rIns="0" bIns="0" rtlCol="0" anchor="ctr"/>
          <a:lstStyle/>
          <a:p>
            <a:pPr indent="0" marL="0">
              <a:buNone/>
            </a:pPr>
            <a:r>
              <a:rPr lang="en-US" sz="1700" u="sng" dirty="0">
                <a:solidFill>
                  <a:srgbClr val="0B2545"/>
                </a:solidFill>
                <a:hlinkClick r:id="rId13" action="ppaction://hlinksldjump" tooltip="">
                  <a:extLst>
                    <a:ext uri="{A12FA001-AC4F-418D-AE19-62706E023703}">
                      <ahyp:hlinkClr xmlns:ahyp="http://schemas.microsoft.com/office/drawing/2018/hyperlinkcolor" val="tx"/>
                    </a:ext>
                  </a:extLst>
                </a:hlinkClick>
              </a:rPr>
              <a:t>Spending behaviour</a:t>
            </a:r>
            <a:endParaRPr lang="en-US" sz="1700" dirty="0"/>
          </a:p>
        </p:txBody>
      </p:sp>
      <p:sp>
        <p:nvSpPr>
          <p:cNvPr id="25" name="Nav Insights &amp; recommendations">
            <a:hlinkClick r:id="rId14" tooltip="" action="ppaction://hlinksldjump"/>
          </p:cNvPr>
          <p:cNvSpPr/>
          <p:nvPr/>
        </p:nvSpPr>
        <p:spPr>
          <a:xfrm>
            <a:off x="731520" y="4187952"/>
            <a:ext cx="7680960" cy="438912"/>
          </a:xfrm>
          <a:prstGeom prst="roundRect">
            <a:avLst>
              <a:gd name="adj" fmla="val 16667"/>
            </a:avLst>
          </a:prstGeom>
          <a:solidFill>
            <a:srgbClr val="EAF2FB"/>
          </a:solidFill>
          <a:ln w="12700">
            <a:solidFill>
              <a:srgbClr val="1E88E5"/>
            </a:solidFill>
            <a:prstDash val="solid"/>
          </a:ln>
        </p:spPr>
      </p:sp>
      <p:sp>
        <p:nvSpPr>
          <p:cNvPr id="26" name="Text 23"/>
          <p:cNvSpPr txBox="1"/>
          <p:nvPr/>
        </p:nvSpPr>
        <p:spPr>
          <a:xfrm>
            <a:off x="868680" y="4187952"/>
            <a:ext cx="457200" cy="438912"/>
          </a:xfrm>
          <a:prstGeom prst="rect">
            <a:avLst/>
          </a:prstGeom>
          <a:noFill/>
          <a:ln/>
        </p:spPr>
        <p:txBody>
          <a:bodyPr wrap="square" lIns="0" tIns="0" rIns="0" bIns="0" rtlCol="0" anchor="ctr"/>
          <a:lstStyle/>
          <a:p>
            <a:pPr indent="0" marL="0">
              <a:buNone/>
            </a:pPr>
            <a:r>
              <a:rPr lang="en-US" sz="1800" b="1" dirty="0">
                <a:solidFill>
                  <a:srgbClr val="1E88E5"/>
                </a:solidFill>
              </a:rPr>
              <a:t>7</a:t>
            </a:r>
            <a:endParaRPr lang="en-US" sz="1800" dirty="0"/>
          </a:p>
        </p:txBody>
      </p:sp>
      <p:sp>
        <p:nvSpPr>
          <p:cNvPr id="27" name="Text 24">
            <a:hlinkClick r:id="rId15" tooltip="" action="ppaction://hlinksldjump"/>
          </p:cNvPr>
          <p:cNvSpPr txBox="1"/>
          <p:nvPr/>
        </p:nvSpPr>
        <p:spPr>
          <a:xfrm>
            <a:off x="1371600" y="4187952"/>
            <a:ext cx="6858000" cy="438912"/>
          </a:xfrm>
          <a:prstGeom prst="rect">
            <a:avLst/>
          </a:prstGeom>
          <a:noFill/>
          <a:ln/>
        </p:spPr>
        <p:txBody>
          <a:bodyPr wrap="square" lIns="0" tIns="0" rIns="0" bIns="0" rtlCol="0" anchor="ctr"/>
          <a:lstStyle/>
          <a:p>
            <a:pPr indent="0" marL="0">
              <a:buNone/>
            </a:pPr>
            <a:r>
              <a:rPr lang="en-US" sz="1700" u="sng" dirty="0">
                <a:solidFill>
                  <a:srgbClr val="0B2545"/>
                </a:solidFill>
                <a:hlinkClick r:id="rId15" action="ppaction://hlinksldjump" tooltip="">
                  <a:extLst>
                    <a:ext uri="{A12FA001-AC4F-418D-AE19-62706E023703}">
                      <ahyp:hlinkClr xmlns:ahyp="http://schemas.microsoft.com/office/drawing/2018/hyperlinkcolor" val="tx"/>
                    </a:ext>
                  </a:extLst>
                </a:hlinkClick>
              </a:rPr>
              <a:t>Insights &amp; recommendations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Header"/>
          <p:cNvSpPr/>
          <p:nvPr/>
        </p:nvSpPr>
        <p:spPr>
          <a:xfrm>
            <a:off x="0" y="0"/>
            <a:ext cx="9144000" cy="822960"/>
          </a:xfrm>
          <a:prstGeom prst="rect">
            <a:avLst/>
          </a:prstGeom>
          <a:solidFill>
            <a:srgbClr val="0B2545"/>
          </a:solidFill>
          <a:ln/>
        </p:spPr>
      </p:sp>
      <p:sp>
        <p:nvSpPr>
          <p:cNvPr id="3" name="Text 1"/>
          <p:cNvSpPr txBox="1"/>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rPr>
              <a:t>Objective &amp; Data Pipeline</a:t>
            </a:r>
            <a:endParaRPr lang="en-US" sz="2400" dirty="0"/>
          </a:p>
        </p:txBody>
      </p:sp>
      <p:sp>
        <p:nvSpPr>
          <p:cNvPr id="5" name="Text 2">
            <a:hlinkClick r:id="rId1" tooltip="Back to agenda" action="ppaction://hlinksldjump"/>
          </p:cNvPr>
          <p:cNvSpPr txBox="1"/>
          <p:nvPr/>
        </p:nvSpPr>
        <p:spPr>
          <a:xfrm>
            <a:off x="7863840" y="4800600"/>
            <a:ext cx="1097280" cy="256032"/>
          </a:xfrm>
          <a:prstGeom prst="rect">
            <a:avLst/>
          </a:prstGeom>
          <a:noFill/>
          <a:ln/>
        </p:spPr>
        <p:txBody>
          <a:bodyPr wrap="square" lIns="0" tIns="0" rIns="0" bIns="0" rtlCol="0" anchor="ctr"/>
          <a:lstStyle/>
          <a:p>
            <a:pPr algn="r" indent="0" marL="0">
              <a:buNone/>
            </a:pPr>
            <a:r>
              <a:rPr lang="en-US" sz="1000" u="sng" dirty="0">
                <a:solidFill>
                  <a:srgbClr val="1E88E5"/>
                </a:solidFill>
                <a:hlinkClick r:id="rId1" action="ppaction://hlinksldjump" tooltip="Back to agenda">
                  <a:extLst>
                    <a:ext uri="{A12FA001-AC4F-418D-AE19-62706E023703}">
                      <ahyp:hlinkClr xmlns:ahyp="http://schemas.microsoft.com/office/drawing/2018/hyperlinkcolor" val="tx"/>
                    </a:ext>
                  </a:extLst>
                </a:hlinkClick>
              </a:rPr>
              <a:t>◂ Agenda</a:t>
            </a:r>
            <a:endParaRPr lang="en-US" sz="1000" dirty="0"/>
          </a:p>
        </p:txBody>
      </p:sp>
      <p:sp>
        <p:nvSpPr>
          <p:cNvPr id="6" name="Text 3"/>
          <p:cNvSpPr txBox="1"/>
          <p:nvPr/>
        </p:nvSpPr>
        <p:spPr>
          <a:xfrm>
            <a:off x="365760" y="4800600"/>
            <a:ext cx="457200" cy="256032"/>
          </a:xfrm>
          <a:prstGeom prst="rect">
            <a:avLst/>
          </a:prstGeom>
          <a:noFill/>
          <a:ln/>
        </p:spPr>
        <p:txBody>
          <a:bodyPr wrap="square" lIns="0" tIns="0" rIns="0" bIns="0" rtlCol="0" anchor="ctr"/>
          <a:lstStyle/>
          <a:p>
            <a:pPr indent="0" marL="0">
              <a:buNone/>
            </a:pPr>
            <a:r>
              <a:rPr lang="en-US" sz="1000" dirty="0">
                <a:solidFill>
                  <a:srgbClr val="5B6B7F"/>
                </a:solidFill>
              </a:rPr>
              <a:t>3</a:t>
            </a:r>
            <a:endParaRPr lang="en-US" sz="1000" dirty="0"/>
          </a:p>
        </p:txBody>
      </p:sp>
      <p:sp>
        <p:nvSpPr>
          <p:cNvPr id="7" name="Text 4"/>
          <p:cNvSpPr txBox="1"/>
          <p:nvPr/>
        </p:nvSpPr>
        <p:spPr>
          <a:xfrm>
            <a:off x="457200" y="1005840"/>
            <a:ext cx="8229600" cy="320040"/>
          </a:xfrm>
          <a:prstGeom prst="rect">
            <a:avLst/>
          </a:prstGeom>
          <a:noFill/>
          <a:ln/>
        </p:spPr>
        <p:txBody>
          <a:bodyPr wrap="square" lIns="0" tIns="0" rIns="0" bIns="0" rtlCol="0" anchor="ctr"/>
          <a:lstStyle/>
          <a:p>
            <a:pPr indent="0" marL="0">
              <a:buNone/>
            </a:pPr>
            <a:r>
              <a:rPr lang="en-US" sz="1600" b="1" dirty="0">
                <a:solidFill>
                  <a:srgbClr val="1E88E5"/>
                </a:solidFill>
              </a:rPr>
              <a:t>Objective</a:t>
            </a:r>
            <a:endParaRPr lang="en-US" sz="1600" dirty="0"/>
          </a:p>
        </p:txBody>
      </p:sp>
      <p:sp>
        <p:nvSpPr>
          <p:cNvPr id="8" name="Text 5"/>
          <p:cNvSpPr txBox="1"/>
          <p:nvPr/>
        </p:nvSpPr>
        <p:spPr>
          <a:xfrm>
            <a:off x="457200" y="1325880"/>
            <a:ext cx="8229600" cy="640080"/>
          </a:xfrm>
          <a:prstGeom prst="rect">
            <a:avLst/>
          </a:prstGeom>
          <a:noFill/>
          <a:ln/>
        </p:spPr>
        <p:txBody>
          <a:bodyPr wrap="square" lIns="0" tIns="0" rIns="0" bIns="0" rtlCol="0" anchor="ctr"/>
          <a:lstStyle/>
          <a:p>
            <a:pPr indent="0" marL="0">
              <a:buNone/>
            </a:pPr>
            <a:r>
              <a:rPr lang="en-US" sz="1500" dirty="0">
                <a:solidFill>
                  <a:srgbClr val="0B2545"/>
                </a:solidFill>
              </a:rPr>
              <a:t>Give stakeholders a weekly, interactive view of credit card revenue, spend, interest and customer mix to monitor operations and spot trends.</a:t>
            </a:r>
            <a:endParaRPr lang="en-US" sz="1500" dirty="0"/>
          </a:p>
        </p:txBody>
      </p:sp>
      <p:sp>
        <p:nvSpPr>
          <p:cNvPr id="9" name="Shape 6"/>
          <p:cNvSpPr/>
          <p:nvPr/>
        </p:nvSpPr>
        <p:spPr>
          <a:xfrm>
            <a:off x="457200" y="2377440"/>
            <a:ext cx="1554480" cy="1920240"/>
          </a:xfrm>
          <a:prstGeom prst="roundRect">
            <a:avLst>
              <a:gd name="adj" fmla="val 5882"/>
            </a:avLst>
          </a:prstGeom>
          <a:solidFill>
            <a:srgbClr val="EAF2FB"/>
          </a:solidFill>
          <a:ln w="12700">
            <a:solidFill>
              <a:srgbClr val="1E88E5"/>
            </a:solidFill>
            <a:prstDash val="solid"/>
          </a:ln>
        </p:spPr>
      </p:sp>
      <p:sp>
        <p:nvSpPr>
          <p:cNvPr id="10" name="Shape 7"/>
          <p:cNvSpPr/>
          <p:nvPr/>
        </p:nvSpPr>
        <p:spPr>
          <a:xfrm>
            <a:off x="1005840" y="2514600"/>
            <a:ext cx="457200" cy="457200"/>
          </a:xfrm>
          <a:prstGeom prst="ellipse">
            <a:avLst/>
          </a:prstGeom>
          <a:solidFill>
            <a:srgbClr val="1E88E5"/>
          </a:solidFill>
          <a:ln/>
        </p:spPr>
      </p:sp>
      <p:sp>
        <p:nvSpPr>
          <p:cNvPr id="11" name="Text 8"/>
          <p:cNvSpPr txBox="1"/>
          <p:nvPr/>
        </p:nvSpPr>
        <p:spPr>
          <a:xfrm>
            <a:off x="1005840" y="2514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12" name="Text 9"/>
          <p:cNvSpPr txBox="1"/>
          <p:nvPr/>
        </p:nvSpPr>
        <p:spPr>
          <a:xfrm>
            <a:off x="502920" y="3108960"/>
            <a:ext cx="1463040" cy="365760"/>
          </a:xfrm>
          <a:prstGeom prst="rect">
            <a:avLst/>
          </a:prstGeom>
          <a:noFill/>
          <a:ln/>
        </p:spPr>
        <p:txBody>
          <a:bodyPr wrap="square" lIns="0" tIns="0" rIns="0" bIns="0" rtlCol="0" anchor="ctr"/>
          <a:lstStyle/>
          <a:p>
            <a:pPr algn="ctr" indent="0" marL="0">
              <a:buNone/>
            </a:pPr>
            <a:r>
              <a:rPr lang="en-US" sz="1400" b="1" dirty="0">
                <a:solidFill>
                  <a:srgbClr val="0B2545"/>
                </a:solidFill>
              </a:rPr>
              <a:t>Prepare CSV</a:t>
            </a:r>
            <a:endParaRPr lang="en-US" sz="1400" dirty="0"/>
          </a:p>
        </p:txBody>
      </p:sp>
      <p:sp>
        <p:nvSpPr>
          <p:cNvPr id="13" name="Text 10"/>
          <p:cNvSpPr txBox="1"/>
          <p:nvPr/>
        </p:nvSpPr>
        <p:spPr>
          <a:xfrm>
            <a:off x="548640" y="3520440"/>
            <a:ext cx="1371600" cy="640080"/>
          </a:xfrm>
          <a:prstGeom prst="rect">
            <a:avLst/>
          </a:prstGeom>
          <a:noFill/>
          <a:ln/>
        </p:spPr>
        <p:txBody>
          <a:bodyPr wrap="square" lIns="0" tIns="0" rIns="0" bIns="0" rtlCol="0" anchor="ctr"/>
          <a:lstStyle/>
          <a:p>
            <a:pPr algn="ctr" indent="0" marL="0">
              <a:buNone/>
            </a:pPr>
            <a:r>
              <a:rPr lang="en-US" sz="1100" dirty="0">
                <a:solidFill>
                  <a:srgbClr val="5B6B7F"/>
                </a:solidFill>
              </a:rPr>
              <a:t>Clean customer &amp; transaction files</a:t>
            </a:r>
            <a:endParaRPr lang="en-US" sz="1100" dirty="0"/>
          </a:p>
        </p:txBody>
      </p:sp>
      <p:sp>
        <p:nvSpPr>
          <p:cNvPr id="14" name="Shape 11"/>
          <p:cNvSpPr/>
          <p:nvPr/>
        </p:nvSpPr>
        <p:spPr>
          <a:xfrm>
            <a:off x="2139696" y="2377440"/>
            <a:ext cx="1554480" cy="1920240"/>
          </a:xfrm>
          <a:prstGeom prst="roundRect">
            <a:avLst>
              <a:gd name="adj" fmla="val 5882"/>
            </a:avLst>
          </a:prstGeom>
          <a:solidFill>
            <a:srgbClr val="EAF2FB"/>
          </a:solidFill>
          <a:ln w="12700">
            <a:solidFill>
              <a:srgbClr val="1E88E5"/>
            </a:solidFill>
            <a:prstDash val="solid"/>
          </a:ln>
        </p:spPr>
      </p:sp>
      <p:sp>
        <p:nvSpPr>
          <p:cNvPr id="15" name="Shape 12"/>
          <p:cNvSpPr/>
          <p:nvPr/>
        </p:nvSpPr>
        <p:spPr>
          <a:xfrm>
            <a:off x="2688336" y="2514600"/>
            <a:ext cx="457200" cy="457200"/>
          </a:xfrm>
          <a:prstGeom prst="ellipse">
            <a:avLst/>
          </a:prstGeom>
          <a:solidFill>
            <a:srgbClr val="1E88E5"/>
          </a:solidFill>
          <a:ln/>
        </p:spPr>
      </p:sp>
      <p:sp>
        <p:nvSpPr>
          <p:cNvPr id="16" name="Text 13"/>
          <p:cNvSpPr txBox="1"/>
          <p:nvPr/>
        </p:nvSpPr>
        <p:spPr>
          <a:xfrm>
            <a:off x="2688336" y="2514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17" name="Text 14"/>
          <p:cNvSpPr txBox="1"/>
          <p:nvPr/>
        </p:nvSpPr>
        <p:spPr>
          <a:xfrm>
            <a:off x="2185416" y="3108960"/>
            <a:ext cx="1463040" cy="365760"/>
          </a:xfrm>
          <a:prstGeom prst="rect">
            <a:avLst/>
          </a:prstGeom>
          <a:noFill/>
          <a:ln/>
        </p:spPr>
        <p:txBody>
          <a:bodyPr wrap="square" lIns="0" tIns="0" rIns="0" bIns="0" rtlCol="0" anchor="ctr"/>
          <a:lstStyle/>
          <a:p>
            <a:pPr algn="ctr" indent="0" marL="0">
              <a:buNone/>
            </a:pPr>
            <a:r>
              <a:rPr lang="en-US" sz="1400" b="1" dirty="0">
                <a:solidFill>
                  <a:srgbClr val="0B2545"/>
                </a:solidFill>
              </a:rPr>
              <a:t>Load to SQL</a:t>
            </a:r>
            <a:endParaRPr lang="en-US" sz="1400" dirty="0"/>
          </a:p>
        </p:txBody>
      </p:sp>
      <p:sp>
        <p:nvSpPr>
          <p:cNvPr id="18" name="Text 15"/>
          <p:cNvSpPr txBox="1"/>
          <p:nvPr/>
        </p:nvSpPr>
        <p:spPr>
          <a:xfrm>
            <a:off x="2231136" y="3520440"/>
            <a:ext cx="1371600" cy="640080"/>
          </a:xfrm>
          <a:prstGeom prst="rect">
            <a:avLst/>
          </a:prstGeom>
          <a:noFill/>
          <a:ln/>
        </p:spPr>
        <p:txBody>
          <a:bodyPr wrap="square" lIns="0" tIns="0" rIns="0" bIns="0" rtlCol="0" anchor="ctr"/>
          <a:lstStyle/>
          <a:p>
            <a:pPr algn="ctr" indent="0" marL="0">
              <a:buNone/>
            </a:pPr>
            <a:r>
              <a:rPr lang="en-US" sz="1100" dirty="0">
                <a:solidFill>
                  <a:srgbClr val="5B6B7F"/>
                </a:solidFill>
              </a:rPr>
              <a:t>Create tables, import CSVs</a:t>
            </a:r>
            <a:endParaRPr lang="en-US" sz="1100" dirty="0"/>
          </a:p>
        </p:txBody>
      </p:sp>
      <p:sp>
        <p:nvSpPr>
          <p:cNvPr id="19" name="Shape 16"/>
          <p:cNvSpPr/>
          <p:nvPr/>
        </p:nvSpPr>
        <p:spPr>
          <a:xfrm>
            <a:off x="3822192" y="2377440"/>
            <a:ext cx="1554480" cy="1920240"/>
          </a:xfrm>
          <a:prstGeom prst="roundRect">
            <a:avLst>
              <a:gd name="adj" fmla="val 5882"/>
            </a:avLst>
          </a:prstGeom>
          <a:solidFill>
            <a:srgbClr val="EAF2FB"/>
          </a:solidFill>
          <a:ln w="12700">
            <a:solidFill>
              <a:srgbClr val="1E88E5"/>
            </a:solidFill>
            <a:prstDash val="solid"/>
          </a:ln>
        </p:spPr>
      </p:sp>
      <p:sp>
        <p:nvSpPr>
          <p:cNvPr id="20" name="Shape 17"/>
          <p:cNvSpPr/>
          <p:nvPr/>
        </p:nvSpPr>
        <p:spPr>
          <a:xfrm>
            <a:off x="4370832" y="2514600"/>
            <a:ext cx="457200" cy="457200"/>
          </a:xfrm>
          <a:prstGeom prst="ellipse">
            <a:avLst/>
          </a:prstGeom>
          <a:solidFill>
            <a:srgbClr val="1E88E5"/>
          </a:solidFill>
          <a:ln/>
        </p:spPr>
      </p:sp>
      <p:sp>
        <p:nvSpPr>
          <p:cNvPr id="21" name="Text 18"/>
          <p:cNvSpPr txBox="1"/>
          <p:nvPr/>
        </p:nvSpPr>
        <p:spPr>
          <a:xfrm>
            <a:off x="4370832" y="2514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22" name="Text 19"/>
          <p:cNvSpPr txBox="1"/>
          <p:nvPr/>
        </p:nvSpPr>
        <p:spPr>
          <a:xfrm>
            <a:off x="3867912" y="3108960"/>
            <a:ext cx="1463040" cy="365760"/>
          </a:xfrm>
          <a:prstGeom prst="rect">
            <a:avLst/>
          </a:prstGeom>
          <a:noFill/>
          <a:ln/>
        </p:spPr>
        <p:txBody>
          <a:bodyPr wrap="square" lIns="0" tIns="0" rIns="0" bIns="0" rtlCol="0" anchor="ctr"/>
          <a:lstStyle/>
          <a:p>
            <a:pPr algn="ctr" indent="0" marL="0">
              <a:buNone/>
            </a:pPr>
            <a:r>
              <a:rPr lang="en-US" sz="1400" b="1" dirty="0">
                <a:solidFill>
                  <a:srgbClr val="0B2545"/>
                </a:solidFill>
              </a:rPr>
              <a:t>Connect Power BI</a:t>
            </a:r>
            <a:endParaRPr lang="en-US" sz="1400" dirty="0"/>
          </a:p>
        </p:txBody>
      </p:sp>
      <p:sp>
        <p:nvSpPr>
          <p:cNvPr id="23" name="Text 20"/>
          <p:cNvSpPr txBox="1"/>
          <p:nvPr/>
        </p:nvSpPr>
        <p:spPr>
          <a:xfrm>
            <a:off x="3913632" y="3520440"/>
            <a:ext cx="1371600" cy="640080"/>
          </a:xfrm>
          <a:prstGeom prst="rect">
            <a:avLst/>
          </a:prstGeom>
          <a:noFill/>
          <a:ln/>
        </p:spPr>
        <p:txBody>
          <a:bodyPr wrap="square" lIns="0" tIns="0" rIns="0" bIns="0" rtlCol="0" anchor="ctr"/>
          <a:lstStyle/>
          <a:p>
            <a:pPr algn="ctr" indent="0" marL="0">
              <a:buNone/>
            </a:pPr>
            <a:r>
              <a:rPr lang="en-US" sz="1100" dirty="0">
                <a:solidFill>
                  <a:srgbClr val="5B6B7F"/>
                </a:solidFill>
              </a:rPr>
              <a:t>Live connection to SQL DB</a:t>
            </a:r>
            <a:endParaRPr lang="en-US" sz="1100" dirty="0"/>
          </a:p>
        </p:txBody>
      </p:sp>
      <p:sp>
        <p:nvSpPr>
          <p:cNvPr id="24" name="Shape 21"/>
          <p:cNvSpPr/>
          <p:nvPr/>
        </p:nvSpPr>
        <p:spPr>
          <a:xfrm>
            <a:off x="5504688" y="2377440"/>
            <a:ext cx="1554480" cy="1920240"/>
          </a:xfrm>
          <a:prstGeom prst="roundRect">
            <a:avLst>
              <a:gd name="adj" fmla="val 5882"/>
            </a:avLst>
          </a:prstGeom>
          <a:solidFill>
            <a:srgbClr val="EAF2FB"/>
          </a:solidFill>
          <a:ln w="12700">
            <a:solidFill>
              <a:srgbClr val="1E88E5"/>
            </a:solidFill>
            <a:prstDash val="solid"/>
          </a:ln>
        </p:spPr>
      </p:sp>
      <p:sp>
        <p:nvSpPr>
          <p:cNvPr id="25" name="Shape 22"/>
          <p:cNvSpPr/>
          <p:nvPr/>
        </p:nvSpPr>
        <p:spPr>
          <a:xfrm>
            <a:off x="6053328" y="2514600"/>
            <a:ext cx="457200" cy="457200"/>
          </a:xfrm>
          <a:prstGeom prst="ellipse">
            <a:avLst/>
          </a:prstGeom>
          <a:solidFill>
            <a:srgbClr val="1E88E5"/>
          </a:solidFill>
          <a:ln/>
        </p:spPr>
      </p:sp>
      <p:sp>
        <p:nvSpPr>
          <p:cNvPr id="26" name="Text 23"/>
          <p:cNvSpPr txBox="1"/>
          <p:nvPr/>
        </p:nvSpPr>
        <p:spPr>
          <a:xfrm>
            <a:off x="6053328" y="2514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27" name="Text 24"/>
          <p:cNvSpPr txBox="1"/>
          <p:nvPr/>
        </p:nvSpPr>
        <p:spPr>
          <a:xfrm>
            <a:off x="5550408" y="3108960"/>
            <a:ext cx="1463040" cy="365760"/>
          </a:xfrm>
          <a:prstGeom prst="rect">
            <a:avLst/>
          </a:prstGeom>
          <a:noFill/>
          <a:ln/>
        </p:spPr>
        <p:txBody>
          <a:bodyPr wrap="square" lIns="0" tIns="0" rIns="0" bIns="0" rtlCol="0" anchor="ctr"/>
          <a:lstStyle/>
          <a:p>
            <a:pPr algn="ctr" indent="0" marL="0">
              <a:buNone/>
            </a:pPr>
            <a:r>
              <a:rPr lang="en-US" sz="1400" b="1" dirty="0">
                <a:solidFill>
                  <a:srgbClr val="0B2545"/>
                </a:solidFill>
              </a:rPr>
              <a:t>DAX measures</a:t>
            </a:r>
            <a:endParaRPr lang="en-US" sz="1400" dirty="0"/>
          </a:p>
        </p:txBody>
      </p:sp>
      <p:sp>
        <p:nvSpPr>
          <p:cNvPr id="28" name="Text 25"/>
          <p:cNvSpPr txBox="1"/>
          <p:nvPr/>
        </p:nvSpPr>
        <p:spPr>
          <a:xfrm>
            <a:off x="5596128" y="3520440"/>
            <a:ext cx="1371600" cy="640080"/>
          </a:xfrm>
          <a:prstGeom prst="rect">
            <a:avLst/>
          </a:prstGeom>
          <a:noFill/>
          <a:ln/>
        </p:spPr>
        <p:txBody>
          <a:bodyPr wrap="square" lIns="0" tIns="0" rIns="0" bIns="0" rtlCol="0" anchor="ctr"/>
          <a:lstStyle/>
          <a:p>
            <a:pPr algn="ctr" indent="0" marL="0">
              <a:buNone/>
            </a:pPr>
            <a:r>
              <a:rPr lang="en-US" sz="1100" dirty="0">
                <a:solidFill>
                  <a:srgbClr val="5B6B7F"/>
                </a:solidFill>
              </a:rPr>
              <a:t>AgeGroup, IncomeGroup</a:t>
            </a:r>
            <a:endParaRPr lang="en-US" sz="1100" dirty="0"/>
          </a:p>
        </p:txBody>
      </p:sp>
      <p:sp>
        <p:nvSpPr>
          <p:cNvPr id="29" name="Shape 26"/>
          <p:cNvSpPr/>
          <p:nvPr/>
        </p:nvSpPr>
        <p:spPr>
          <a:xfrm>
            <a:off x="7187184" y="2377440"/>
            <a:ext cx="1554480" cy="1920240"/>
          </a:xfrm>
          <a:prstGeom prst="roundRect">
            <a:avLst>
              <a:gd name="adj" fmla="val 5882"/>
            </a:avLst>
          </a:prstGeom>
          <a:solidFill>
            <a:srgbClr val="EAF2FB"/>
          </a:solidFill>
          <a:ln w="12700">
            <a:solidFill>
              <a:srgbClr val="1E88E5"/>
            </a:solidFill>
            <a:prstDash val="solid"/>
          </a:ln>
        </p:spPr>
      </p:sp>
      <p:sp>
        <p:nvSpPr>
          <p:cNvPr id="30" name="Shape 27"/>
          <p:cNvSpPr/>
          <p:nvPr/>
        </p:nvSpPr>
        <p:spPr>
          <a:xfrm>
            <a:off x="7735824" y="2514600"/>
            <a:ext cx="457200" cy="457200"/>
          </a:xfrm>
          <a:prstGeom prst="ellipse">
            <a:avLst/>
          </a:prstGeom>
          <a:solidFill>
            <a:srgbClr val="1E88E5"/>
          </a:solidFill>
          <a:ln/>
        </p:spPr>
      </p:sp>
      <p:sp>
        <p:nvSpPr>
          <p:cNvPr id="31" name="Text 28"/>
          <p:cNvSpPr txBox="1"/>
          <p:nvPr/>
        </p:nvSpPr>
        <p:spPr>
          <a:xfrm>
            <a:off x="7735824" y="25146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5</a:t>
            </a:r>
            <a:endParaRPr lang="en-US" sz="1600" dirty="0"/>
          </a:p>
        </p:txBody>
      </p:sp>
      <p:sp>
        <p:nvSpPr>
          <p:cNvPr id="32" name="Text 29"/>
          <p:cNvSpPr txBox="1"/>
          <p:nvPr/>
        </p:nvSpPr>
        <p:spPr>
          <a:xfrm>
            <a:off x="7232904" y="3108960"/>
            <a:ext cx="1463040" cy="365760"/>
          </a:xfrm>
          <a:prstGeom prst="rect">
            <a:avLst/>
          </a:prstGeom>
          <a:noFill/>
          <a:ln/>
        </p:spPr>
        <p:txBody>
          <a:bodyPr wrap="square" lIns="0" tIns="0" rIns="0" bIns="0" rtlCol="0" anchor="ctr"/>
          <a:lstStyle/>
          <a:p>
            <a:pPr algn="ctr" indent="0" marL="0">
              <a:buNone/>
            </a:pPr>
            <a:r>
              <a:rPr lang="en-US" sz="1400" b="1" dirty="0">
                <a:solidFill>
                  <a:srgbClr val="0B2545"/>
                </a:solidFill>
              </a:rPr>
              <a:t>Dashboard</a:t>
            </a:r>
            <a:endParaRPr lang="en-US" sz="1400" dirty="0"/>
          </a:p>
        </p:txBody>
      </p:sp>
      <p:sp>
        <p:nvSpPr>
          <p:cNvPr id="33" name="Text 30"/>
          <p:cNvSpPr txBox="1"/>
          <p:nvPr/>
        </p:nvSpPr>
        <p:spPr>
          <a:xfrm>
            <a:off x="7278624" y="3520440"/>
            <a:ext cx="1371600" cy="640080"/>
          </a:xfrm>
          <a:prstGeom prst="rect">
            <a:avLst/>
          </a:prstGeom>
          <a:noFill/>
          <a:ln/>
        </p:spPr>
        <p:txBody>
          <a:bodyPr wrap="square" lIns="0" tIns="0" rIns="0" bIns="0" rtlCol="0" anchor="ctr"/>
          <a:lstStyle/>
          <a:p>
            <a:pPr algn="ctr" indent="0" marL="0">
              <a:buNone/>
            </a:pPr>
            <a:r>
              <a:rPr lang="en-US" sz="1100" dirty="0">
                <a:solidFill>
                  <a:srgbClr val="5B6B7F"/>
                </a:solidFill>
              </a:rPr>
              <a:t>Filters by card, quarter, week, education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Header"/>
          <p:cNvSpPr/>
          <p:nvPr/>
        </p:nvSpPr>
        <p:spPr>
          <a:xfrm>
            <a:off x="0" y="0"/>
            <a:ext cx="9144000" cy="822960"/>
          </a:xfrm>
          <a:prstGeom prst="rect">
            <a:avLst/>
          </a:prstGeom>
          <a:solidFill>
            <a:srgbClr val="0B2545"/>
          </a:solidFill>
          <a:ln/>
        </p:spPr>
      </p:sp>
      <p:sp>
        <p:nvSpPr>
          <p:cNvPr id="3" name="Text 1"/>
          <p:cNvSpPr txBox="1"/>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rPr>
              <a:t>Headline KPIs</a:t>
            </a:r>
            <a:endParaRPr lang="en-US" sz="2400" dirty="0"/>
          </a:p>
        </p:txBody>
      </p:sp>
      <p:sp>
        <p:nvSpPr>
          <p:cNvPr id="5" name="Text 2">
            <a:hlinkClick r:id="rId1" tooltip="Back to agenda" action="ppaction://hlinksldjump"/>
          </p:cNvPr>
          <p:cNvSpPr txBox="1"/>
          <p:nvPr/>
        </p:nvSpPr>
        <p:spPr>
          <a:xfrm>
            <a:off x="7863840" y="4800600"/>
            <a:ext cx="1097280" cy="256032"/>
          </a:xfrm>
          <a:prstGeom prst="rect">
            <a:avLst/>
          </a:prstGeom>
          <a:noFill/>
          <a:ln/>
        </p:spPr>
        <p:txBody>
          <a:bodyPr wrap="square" lIns="0" tIns="0" rIns="0" bIns="0" rtlCol="0" anchor="ctr"/>
          <a:lstStyle/>
          <a:p>
            <a:pPr algn="r" indent="0" marL="0">
              <a:buNone/>
            </a:pPr>
            <a:r>
              <a:rPr lang="en-US" sz="1000" u="sng" dirty="0">
                <a:solidFill>
                  <a:srgbClr val="1E88E5"/>
                </a:solidFill>
                <a:hlinkClick r:id="rId1" action="ppaction://hlinksldjump" tooltip="Back to agenda">
                  <a:extLst>
                    <a:ext uri="{A12FA001-AC4F-418D-AE19-62706E023703}">
                      <ahyp:hlinkClr xmlns:ahyp="http://schemas.microsoft.com/office/drawing/2018/hyperlinkcolor" val="tx"/>
                    </a:ext>
                  </a:extLst>
                </a:hlinkClick>
              </a:rPr>
              <a:t>◂ Agenda</a:t>
            </a:r>
            <a:endParaRPr lang="en-US" sz="1000" dirty="0"/>
          </a:p>
        </p:txBody>
      </p:sp>
      <p:sp>
        <p:nvSpPr>
          <p:cNvPr id="6" name="Text 3"/>
          <p:cNvSpPr txBox="1"/>
          <p:nvPr/>
        </p:nvSpPr>
        <p:spPr>
          <a:xfrm>
            <a:off x="365760" y="4800600"/>
            <a:ext cx="457200" cy="256032"/>
          </a:xfrm>
          <a:prstGeom prst="rect">
            <a:avLst/>
          </a:prstGeom>
          <a:noFill/>
          <a:ln/>
        </p:spPr>
        <p:txBody>
          <a:bodyPr wrap="square" lIns="0" tIns="0" rIns="0" bIns="0" rtlCol="0" anchor="ctr"/>
          <a:lstStyle/>
          <a:p>
            <a:pPr indent="0" marL="0">
              <a:buNone/>
            </a:pPr>
            <a:r>
              <a:rPr lang="en-US" sz="1000" dirty="0">
                <a:solidFill>
                  <a:srgbClr val="5B6B7F"/>
                </a:solidFill>
              </a:rPr>
              <a:t>4</a:t>
            </a:r>
            <a:endParaRPr lang="en-US" sz="1000" dirty="0"/>
          </a:p>
        </p:txBody>
      </p:sp>
      <p:sp>
        <p:nvSpPr>
          <p:cNvPr id="7" name="KPI Revenue"/>
          <p:cNvSpPr/>
          <p:nvPr/>
        </p:nvSpPr>
        <p:spPr>
          <a:xfrm>
            <a:off x="457200" y="1097280"/>
            <a:ext cx="2651760" cy="1371600"/>
          </a:xfrm>
          <a:prstGeom prst="roundRect">
            <a:avLst>
              <a:gd name="adj" fmla="val 6667"/>
            </a:avLst>
          </a:prstGeom>
          <a:solidFill>
            <a:srgbClr val="EAF2FB"/>
          </a:solidFill>
          <a:ln w="19050">
            <a:solidFill>
              <a:srgbClr val="1E88E5"/>
            </a:solidFill>
            <a:prstDash val="solid"/>
          </a:ln>
        </p:spPr>
      </p:sp>
      <p:sp>
        <p:nvSpPr>
          <p:cNvPr id="8" name="Text 5"/>
          <p:cNvSpPr txBox="1"/>
          <p:nvPr/>
        </p:nvSpPr>
        <p:spPr>
          <a:xfrm>
            <a:off x="457200" y="1280160"/>
            <a:ext cx="2651760" cy="685800"/>
          </a:xfrm>
          <a:prstGeom prst="rect">
            <a:avLst/>
          </a:prstGeom>
          <a:noFill/>
          <a:ln/>
        </p:spPr>
        <p:txBody>
          <a:bodyPr wrap="square" lIns="0" tIns="0" rIns="0" bIns="0" rtlCol="0" anchor="ctr"/>
          <a:lstStyle/>
          <a:p>
            <a:pPr algn="ctr" indent="0" marL="0">
              <a:buNone/>
            </a:pPr>
            <a:r>
              <a:rPr lang="en-US" sz="3400" b="1" dirty="0">
                <a:solidFill>
                  <a:srgbClr val="0B2545"/>
                </a:solidFill>
              </a:rPr>
              <a:t>55M</a:t>
            </a:r>
            <a:endParaRPr lang="en-US" sz="3400" dirty="0"/>
          </a:p>
        </p:txBody>
      </p:sp>
      <p:sp>
        <p:nvSpPr>
          <p:cNvPr id="9" name="Text 6"/>
          <p:cNvSpPr txBox="1"/>
          <p:nvPr/>
        </p:nvSpPr>
        <p:spPr>
          <a:xfrm>
            <a:off x="457200" y="1892808"/>
            <a:ext cx="2651760" cy="411480"/>
          </a:xfrm>
          <a:prstGeom prst="rect">
            <a:avLst/>
          </a:prstGeom>
          <a:noFill/>
          <a:ln/>
        </p:spPr>
        <p:txBody>
          <a:bodyPr wrap="square" lIns="0" tIns="0" rIns="0" bIns="0" rtlCol="0" anchor="ctr"/>
          <a:lstStyle/>
          <a:p>
            <a:pPr algn="ctr" indent="0" marL="0">
              <a:buNone/>
            </a:pPr>
            <a:r>
              <a:rPr lang="en-US" sz="1300" dirty="0">
                <a:solidFill>
                  <a:srgbClr val="5B6B7F"/>
                </a:solidFill>
              </a:rPr>
              <a:t>Revenue</a:t>
            </a:r>
            <a:endParaRPr lang="en-US" sz="1300" dirty="0"/>
          </a:p>
        </p:txBody>
      </p:sp>
      <p:sp>
        <p:nvSpPr>
          <p:cNvPr id="10" name="KPI Transaction amount"/>
          <p:cNvSpPr/>
          <p:nvPr/>
        </p:nvSpPr>
        <p:spPr>
          <a:xfrm>
            <a:off x="3246120" y="1097280"/>
            <a:ext cx="2651760" cy="1371600"/>
          </a:xfrm>
          <a:prstGeom prst="roundRect">
            <a:avLst>
              <a:gd name="adj" fmla="val 6667"/>
            </a:avLst>
          </a:prstGeom>
          <a:solidFill>
            <a:srgbClr val="EAF2FB"/>
          </a:solidFill>
          <a:ln w="19050">
            <a:solidFill>
              <a:srgbClr val="1E88E5"/>
            </a:solidFill>
            <a:prstDash val="solid"/>
          </a:ln>
        </p:spPr>
      </p:sp>
      <p:sp>
        <p:nvSpPr>
          <p:cNvPr id="11" name="Text 8"/>
          <p:cNvSpPr txBox="1"/>
          <p:nvPr/>
        </p:nvSpPr>
        <p:spPr>
          <a:xfrm>
            <a:off x="3246120" y="1280160"/>
            <a:ext cx="2651760" cy="685800"/>
          </a:xfrm>
          <a:prstGeom prst="rect">
            <a:avLst/>
          </a:prstGeom>
          <a:noFill/>
          <a:ln/>
        </p:spPr>
        <p:txBody>
          <a:bodyPr wrap="square" lIns="0" tIns="0" rIns="0" bIns="0" rtlCol="0" anchor="ctr"/>
          <a:lstStyle/>
          <a:p>
            <a:pPr algn="ctr" indent="0" marL="0">
              <a:buNone/>
            </a:pPr>
            <a:r>
              <a:rPr lang="en-US" sz="3400" b="1" dirty="0">
                <a:solidFill>
                  <a:srgbClr val="0B2545"/>
                </a:solidFill>
              </a:rPr>
              <a:t>45M</a:t>
            </a:r>
            <a:endParaRPr lang="en-US" sz="3400" dirty="0"/>
          </a:p>
        </p:txBody>
      </p:sp>
      <p:sp>
        <p:nvSpPr>
          <p:cNvPr id="12" name="Text 9"/>
          <p:cNvSpPr txBox="1"/>
          <p:nvPr/>
        </p:nvSpPr>
        <p:spPr>
          <a:xfrm>
            <a:off x="3246120" y="1892808"/>
            <a:ext cx="2651760" cy="411480"/>
          </a:xfrm>
          <a:prstGeom prst="rect">
            <a:avLst/>
          </a:prstGeom>
          <a:noFill/>
          <a:ln/>
        </p:spPr>
        <p:txBody>
          <a:bodyPr wrap="square" lIns="0" tIns="0" rIns="0" bIns="0" rtlCol="0" anchor="ctr"/>
          <a:lstStyle/>
          <a:p>
            <a:pPr algn="ctr" indent="0" marL="0">
              <a:buNone/>
            </a:pPr>
            <a:r>
              <a:rPr lang="en-US" sz="1300" dirty="0">
                <a:solidFill>
                  <a:srgbClr val="5B6B7F"/>
                </a:solidFill>
              </a:rPr>
              <a:t>Transaction amount</a:t>
            </a:r>
            <a:endParaRPr lang="en-US" sz="1300" dirty="0"/>
          </a:p>
        </p:txBody>
      </p:sp>
      <p:sp>
        <p:nvSpPr>
          <p:cNvPr id="13" name="KPI Interest earned"/>
          <p:cNvSpPr/>
          <p:nvPr/>
        </p:nvSpPr>
        <p:spPr>
          <a:xfrm>
            <a:off x="6035040" y="1097280"/>
            <a:ext cx="2651760" cy="1371600"/>
          </a:xfrm>
          <a:prstGeom prst="roundRect">
            <a:avLst>
              <a:gd name="adj" fmla="val 6667"/>
            </a:avLst>
          </a:prstGeom>
          <a:solidFill>
            <a:srgbClr val="EAF2FB"/>
          </a:solidFill>
          <a:ln w="19050">
            <a:solidFill>
              <a:srgbClr val="1E88E5"/>
            </a:solidFill>
            <a:prstDash val="solid"/>
          </a:ln>
        </p:spPr>
      </p:sp>
      <p:sp>
        <p:nvSpPr>
          <p:cNvPr id="14" name="Text 11"/>
          <p:cNvSpPr txBox="1"/>
          <p:nvPr/>
        </p:nvSpPr>
        <p:spPr>
          <a:xfrm>
            <a:off x="6035040" y="1280160"/>
            <a:ext cx="2651760" cy="685800"/>
          </a:xfrm>
          <a:prstGeom prst="rect">
            <a:avLst/>
          </a:prstGeom>
          <a:noFill/>
          <a:ln/>
        </p:spPr>
        <p:txBody>
          <a:bodyPr wrap="square" lIns="0" tIns="0" rIns="0" bIns="0" rtlCol="0" anchor="ctr"/>
          <a:lstStyle/>
          <a:p>
            <a:pPr algn="ctr" indent="0" marL="0">
              <a:buNone/>
            </a:pPr>
            <a:r>
              <a:rPr lang="en-US" sz="3400" b="1" dirty="0">
                <a:solidFill>
                  <a:srgbClr val="0B2545"/>
                </a:solidFill>
              </a:rPr>
              <a:t>7.84M</a:t>
            </a:r>
            <a:endParaRPr lang="en-US" sz="3400" dirty="0"/>
          </a:p>
        </p:txBody>
      </p:sp>
      <p:sp>
        <p:nvSpPr>
          <p:cNvPr id="15" name="Text 12"/>
          <p:cNvSpPr txBox="1"/>
          <p:nvPr/>
        </p:nvSpPr>
        <p:spPr>
          <a:xfrm>
            <a:off x="6035040" y="1892808"/>
            <a:ext cx="2651760" cy="411480"/>
          </a:xfrm>
          <a:prstGeom prst="rect">
            <a:avLst/>
          </a:prstGeom>
          <a:noFill/>
          <a:ln/>
        </p:spPr>
        <p:txBody>
          <a:bodyPr wrap="square" lIns="0" tIns="0" rIns="0" bIns="0" rtlCol="0" anchor="ctr"/>
          <a:lstStyle/>
          <a:p>
            <a:pPr algn="ctr" indent="0" marL="0">
              <a:buNone/>
            </a:pPr>
            <a:r>
              <a:rPr lang="en-US" sz="1300" dirty="0">
                <a:solidFill>
                  <a:srgbClr val="5B6B7F"/>
                </a:solidFill>
              </a:rPr>
              <a:t>Interest earned</a:t>
            </a:r>
            <a:endParaRPr lang="en-US" sz="1300" dirty="0"/>
          </a:p>
        </p:txBody>
      </p:sp>
      <p:sp>
        <p:nvSpPr>
          <p:cNvPr id="16" name="KPI Activation rate"/>
          <p:cNvSpPr/>
          <p:nvPr/>
        </p:nvSpPr>
        <p:spPr>
          <a:xfrm>
            <a:off x="457200" y="2697480"/>
            <a:ext cx="2651760" cy="1371600"/>
          </a:xfrm>
          <a:prstGeom prst="roundRect">
            <a:avLst>
              <a:gd name="adj" fmla="val 6667"/>
            </a:avLst>
          </a:prstGeom>
          <a:solidFill>
            <a:srgbClr val="EAF2FB"/>
          </a:solidFill>
          <a:ln w="19050">
            <a:solidFill>
              <a:srgbClr val="F5B700"/>
            </a:solidFill>
            <a:prstDash val="solid"/>
          </a:ln>
        </p:spPr>
      </p:sp>
      <p:sp>
        <p:nvSpPr>
          <p:cNvPr id="17" name="Text 14"/>
          <p:cNvSpPr txBox="1"/>
          <p:nvPr/>
        </p:nvSpPr>
        <p:spPr>
          <a:xfrm>
            <a:off x="457200" y="2880360"/>
            <a:ext cx="2651760" cy="685800"/>
          </a:xfrm>
          <a:prstGeom prst="rect">
            <a:avLst/>
          </a:prstGeom>
          <a:noFill/>
          <a:ln/>
        </p:spPr>
        <p:txBody>
          <a:bodyPr wrap="square" lIns="0" tIns="0" rIns="0" bIns="0" rtlCol="0" anchor="ctr"/>
          <a:lstStyle/>
          <a:p>
            <a:pPr algn="ctr" indent="0" marL="0">
              <a:buNone/>
            </a:pPr>
            <a:r>
              <a:rPr lang="en-US" sz="3400" b="1" dirty="0">
                <a:solidFill>
                  <a:srgbClr val="0B2545"/>
                </a:solidFill>
              </a:rPr>
              <a:t>57.5%</a:t>
            </a:r>
            <a:endParaRPr lang="en-US" sz="3400" dirty="0"/>
          </a:p>
        </p:txBody>
      </p:sp>
      <p:sp>
        <p:nvSpPr>
          <p:cNvPr id="18" name="Text 15"/>
          <p:cNvSpPr txBox="1"/>
          <p:nvPr/>
        </p:nvSpPr>
        <p:spPr>
          <a:xfrm>
            <a:off x="457200" y="3493008"/>
            <a:ext cx="2651760" cy="411480"/>
          </a:xfrm>
          <a:prstGeom prst="rect">
            <a:avLst/>
          </a:prstGeom>
          <a:noFill/>
          <a:ln/>
        </p:spPr>
        <p:txBody>
          <a:bodyPr wrap="square" lIns="0" tIns="0" rIns="0" bIns="0" rtlCol="0" anchor="ctr"/>
          <a:lstStyle/>
          <a:p>
            <a:pPr algn="ctr" indent="0" marL="0">
              <a:buNone/>
            </a:pPr>
            <a:r>
              <a:rPr lang="en-US" sz="1300" dirty="0">
                <a:solidFill>
                  <a:srgbClr val="5B6B7F"/>
                </a:solidFill>
              </a:rPr>
              <a:t>Activation rate</a:t>
            </a:r>
            <a:endParaRPr lang="en-US" sz="1300" dirty="0"/>
          </a:p>
        </p:txBody>
      </p:sp>
      <p:sp>
        <p:nvSpPr>
          <p:cNvPr id="19" name="KPI Delinquent rate"/>
          <p:cNvSpPr/>
          <p:nvPr/>
        </p:nvSpPr>
        <p:spPr>
          <a:xfrm>
            <a:off x="3246120" y="2697480"/>
            <a:ext cx="2651760" cy="1371600"/>
          </a:xfrm>
          <a:prstGeom prst="roundRect">
            <a:avLst>
              <a:gd name="adj" fmla="val 6667"/>
            </a:avLst>
          </a:prstGeom>
          <a:solidFill>
            <a:srgbClr val="EAF2FB"/>
          </a:solidFill>
          <a:ln w="19050">
            <a:solidFill>
              <a:srgbClr val="E53935"/>
            </a:solidFill>
            <a:prstDash val="solid"/>
          </a:ln>
        </p:spPr>
      </p:sp>
      <p:sp>
        <p:nvSpPr>
          <p:cNvPr id="20" name="Text 17"/>
          <p:cNvSpPr txBox="1"/>
          <p:nvPr/>
        </p:nvSpPr>
        <p:spPr>
          <a:xfrm>
            <a:off x="3246120" y="2880360"/>
            <a:ext cx="2651760" cy="685800"/>
          </a:xfrm>
          <a:prstGeom prst="rect">
            <a:avLst/>
          </a:prstGeom>
          <a:noFill/>
          <a:ln/>
        </p:spPr>
        <p:txBody>
          <a:bodyPr wrap="square" lIns="0" tIns="0" rIns="0" bIns="0" rtlCol="0" anchor="ctr"/>
          <a:lstStyle/>
          <a:p>
            <a:pPr algn="ctr" indent="0" marL="0">
              <a:buNone/>
            </a:pPr>
            <a:r>
              <a:rPr lang="en-US" sz="3400" b="1" dirty="0">
                <a:solidFill>
                  <a:srgbClr val="0B2545"/>
                </a:solidFill>
              </a:rPr>
              <a:t>6.06%</a:t>
            </a:r>
            <a:endParaRPr lang="en-US" sz="3400" dirty="0"/>
          </a:p>
        </p:txBody>
      </p:sp>
      <p:sp>
        <p:nvSpPr>
          <p:cNvPr id="21" name="Text 18"/>
          <p:cNvSpPr txBox="1"/>
          <p:nvPr/>
        </p:nvSpPr>
        <p:spPr>
          <a:xfrm>
            <a:off x="3246120" y="3493008"/>
            <a:ext cx="2651760" cy="411480"/>
          </a:xfrm>
          <a:prstGeom prst="rect">
            <a:avLst/>
          </a:prstGeom>
          <a:noFill/>
          <a:ln/>
        </p:spPr>
        <p:txBody>
          <a:bodyPr wrap="square" lIns="0" tIns="0" rIns="0" bIns="0" rtlCol="0" anchor="ctr"/>
          <a:lstStyle/>
          <a:p>
            <a:pPr algn="ctr" indent="0" marL="0">
              <a:buNone/>
            </a:pPr>
            <a:r>
              <a:rPr lang="en-US" sz="1300" dirty="0">
                <a:solidFill>
                  <a:srgbClr val="5B6B7F"/>
                </a:solidFill>
              </a:rPr>
              <a:t>Delinquent rate</a:t>
            </a:r>
            <a:endParaRPr lang="en-US" sz="1300" dirty="0"/>
          </a:p>
        </p:txBody>
      </p:sp>
      <p:graphicFrame>
        <p:nvGraphicFramePr>
          <p:cNvPr id="22" name="Chart 0" descr=""/>
          <p:cNvGraphicFramePr/>
          <p:nvPr/>
        </p:nvGraphicFramePr>
        <p:xfrm>
          <a:off x="6035040" y="2560320"/>
          <a:ext cx="2651760" cy="1737360"/>
        </p:xfrm>
        <a:graphic xmlns:a="http://schemas.openxmlformats.org/drawingml/2006/main">
          <a:graphicData uri="http://schemas.openxmlformats.org/drawingml/2006/chart">
            <c:chart xmlns:c="http://schemas.openxmlformats.org/drawingml/2006/chart" r:id="rId2"/>
          </a:graphicData>
        </a:graphic>
      </p:graphicFrame>
      <p:sp>
        <p:nvSpPr>
          <p:cNvPr id="23" name="Text 19"/>
          <p:cNvSpPr txBox="1"/>
          <p:nvPr/>
        </p:nvSpPr>
        <p:spPr>
          <a:xfrm>
            <a:off x="457200" y="4343400"/>
            <a:ext cx="7315200" cy="274320"/>
          </a:xfrm>
          <a:prstGeom prst="rect">
            <a:avLst/>
          </a:prstGeom>
          <a:noFill/>
          <a:ln/>
        </p:spPr>
        <p:txBody>
          <a:bodyPr wrap="square" lIns="0" tIns="0" rIns="0" bIns="0" rtlCol="0" anchor="ctr"/>
          <a:lstStyle/>
          <a:p>
            <a:pPr indent="0" marL="0">
              <a:buNone/>
            </a:pPr>
            <a:r>
              <a:rPr lang="en-US" sz="900" i="1" dirty="0">
                <a:solidFill>
                  <a:srgbClr val="5B6B7F"/>
                </a:solidFill>
              </a:rPr>
              <a:t>Source: Power BI dashboard (rounded). Activation &amp; delinquency rates from project summary.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Header"/>
          <p:cNvSpPr/>
          <p:nvPr/>
        </p:nvSpPr>
        <p:spPr>
          <a:xfrm>
            <a:off x="0" y="0"/>
            <a:ext cx="9144000" cy="822960"/>
          </a:xfrm>
          <a:prstGeom prst="rect">
            <a:avLst/>
          </a:prstGeom>
          <a:solidFill>
            <a:srgbClr val="0B2545"/>
          </a:solidFill>
          <a:ln/>
        </p:spPr>
      </p:sp>
      <p:sp>
        <p:nvSpPr>
          <p:cNvPr id="3" name="Text 1"/>
          <p:cNvSpPr txBox="1"/>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rPr>
              <a:t>Card Category &amp; Quarterly Trend</a:t>
            </a:r>
            <a:endParaRPr lang="en-US" sz="2400" dirty="0"/>
          </a:p>
        </p:txBody>
      </p:sp>
      <p:sp>
        <p:nvSpPr>
          <p:cNvPr id="5" name="Text 2">
            <a:hlinkClick r:id="rId1" tooltip="Back to agenda" action="ppaction://hlinksldjump"/>
          </p:cNvPr>
          <p:cNvSpPr txBox="1"/>
          <p:nvPr/>
        </p:nvSpPr>
        <p:spPr>
          <a:xfrm>
            <a:off x="7863840" y="4800600"/>
            <a:ext cx="1097280" cy="256032"/>
          </a:xfrm>
          <a:prstGeom prst="rect">
            <a:avLst/>
          </a:prstGeom>
          <a:noFill/>
          <a:ln/>
        </p:spPr>
        <p:txBody>
          <a:bodyPr wrap="square" lIns="0" tIns="0" rIns="0" bIns="0" rtlCol="0" anchor="ctr"/>
          <a:lstStyle/>
          <a:p>
            <a:pPr algn="r" indent="0" marL="0">
              <a:buNone/>
            </a:pPr>
            <a:r>
              <a:rPr lang="en-US" sz="1000" u="sng" dirty="0">
                <a:solidFill>
                  <a:srgbClr val="1E88E5"/>
                </a:solidFill>
                <a:hlinkClick r:id="rId1" action="ppaction://hlinksldjump" tooltip="Back to agenda">
                  <a:extLst>
                    <a:ext uri="{A12FA001-AC4F-418D-AE19-62706E023703}">
                      <ahyp:hlinkClr xmlns:ahyp="http://schemas.microsoft.com/office/drawing/2018/hyperlinkcolor" val="tx"/>
                    </a:ext>
                  </a:extLst>
                </a:hlinkClick>
              </a:rPr>
              <a:t>◂ Agenda</a:t>
            </a:r>
            <a:endParaRPr lang="en-US" sz="1000" dirty="0"/>
          </a:p>
        </p:txBody>
      </p:sp>
      <p:sp>
        <p:nvSpPr>
          <p:cNvPr id="6" name="Text 3"/>
          <p:cNvSpPr txBox="1"/>
          <p:nvPr/>
        </p:nvSpPr>
        <p:spPr>
          <a:xfrm>
            <a:off x="365760" y="4800600"/>
            <a:ext cx="457200" cy="256032"/>
          </a:xfrm>
          <a:prstGeom prst="rect">
            <a:avLst/>
          </a:prstGeom>
          <a:noFill/>
          <a:ln/>
        </p:spPr>
        <p:txBody>
          <a:bodyPr wrap="square" lIns="0" tIns="0" rIns="0" bIns="0" rtlCol="0" anchor="ctr"/>
          <a:lstStyle/>
          <a:p>
            <a:pPr indent="0" marL="0">
              <a:buNone/>
            </a:pPr>
            <a:r>
              <a:rPr lang="en-US" sz="1000" dirty="0">
                <a:solidFill>
                  <a:srgbClr val="5B6B7F"/>
                </a:solidFill>
              </a:rPr>
              <a:t>5</a:t>
            </a:r>
            <a:endParaRPr lang="en-US" sz="1000" dirty="0"/>
          </a:p>
        </p:txBody>
      </p:sp>
      <p:graphicFrame>
        <p:nvGraphicFramePr>
          <p:cNvPr id="7" name="Chart 0" descr=""/>
          <p:cNvGraphicFramePr/>
          <p:nvPr/>
        </p:nvGraphicFramePr>
        <p:xfrm>
          <a:off x="365760" y="1005840"/>
          <a:ext cx="4206240" cy="3200400"/>
        </p:xfrm>
        <a:graphic xmlns:a="http://schemas.openxmlformats.org/drawingml/2006/main">
          <a:graphicData uri="http://schemas.openxmlformats.org/drawingml/2006/chart">
            <c:chart xmlns:c="http://schemas.openxmlformats.org/drawingml/2006/chart" r:id="rId2"/>
          </a:graphicData>
        </a:graphic>
      </p:graphicFrame>
      <p:graphicFrame>
        <p:nvGraphicFramePr>
          <p:cNvPr id="8" name="Chart 1" descr=""/>
          <p:cNvGraphicFramePr/>
          <p:nvPr/>
        </p:nvGraphicFramePr>
        <p:xfrm>
          <a:off x="4663440" y="1005840"/>
          <a:ext cx="4114800" cy="3200400"/>
        </p:xfrm>
        <a:graphic xmlns:a="http://schemas.openxmlformats.org/drawingml/2006/main">
          <a:graphicData uri="http://schemas.openxmlformats.org/drawingml/2006/chart">
            <c:chart xmlns:c="http://schemas.openxmlformats.org/drawingml/2006/chart" r:id="rId3"/>
          </a:graphicData>
        </a:graphic>
      </p:graphicFrame>
      <p:sp>
        <p:nvSpPr>
          <p:cNvPr id="9" name="Text 4"/>
          <p:cNvSpPr txBox="1"/>
          <p:nvPr/>
        </p:nvSpPr>
        <p:spPr>
          <a:xfrm>
            <a:off x="457200" y="4297680"/>
            <a:ext cx="8229600" cy="365760"/>
          </a:xfrm>
          <a:prstGeom prst="rect">
            <a:avLst/>
          </a:prstGeom>
          <a:noFill/>
          <a:ln/>
        </p:spPr>
        <p:txBody>
          <a:bodyPr wrap="square" lIns="0" tIns="0" rIns="0" bIns="0" rtlCol="0" anchor="ctr"/>
          <a:lstStyle/>
          <a:p>
            <a:pPr indent="0" marL="0">
              <a:buNone/>
            </a:pPr>
            <a:r>
              <a:rPr lang="en-US" sz="1300" b="1" dirty="0">
                <a:solidFill>
                  <a:srgbClr val="1E88E5"/>
                </a:solidFill>
              </a:rPr>
              <a:t>Takeaway: heavy dependence on Blue (83% of revenue); premium tiers are under-penetrated.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Header"/>
          <p:cNvSpPr/>
          <p:nvPr/>
        </p:nvSpPr>
        <p:spPr>
          <a:xfrm>
            <a:off x="0" y="0"/>
            <a:ext cx="9144000" cy="822960"/>
          </a:xfrm>
          <a:prstGeom prst="rect">
            <a:avLst/>
          </a:prstGeom>
          <a:solidFill>
            <a:srgbClr val="0B2545"/>
          </a:solidFill>
          <a:ln/>
        </p:spPr>
      </p:sp>
      <p:sp>
        <p:nvSpPr>
          <p:cNvPr id="3" name="Text 1"/>
          <p:cNvSpPr txBox="1"/>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rPr>
              <a:t>Customer Segments</a:t>
            </a:r>
            <a:endParaRPr lang="en-US" sz="2400" dirty="0"/>
          </a:p>
        </p:txBody>
      </p:sp>
      <p:sp>
        <p:nvSpPr>
          <p:cNvPr id="5" name="Text 2">
            <a:hlinkClick r:id="rId1" tooltip="Back to agenda" action="ppaction://hlinksldjump"/>
          </p:cNvPr>
          <p:cNvSpPr txBox="1"/>
          <p:nvPr/>
        </p:nvSpPr>
        <p:spPr>
          <a:xfrm>
            <a:off x="7863840" y="4800600"/>
            <a:ext cx="1097280" cy="256032"/>
          </a:xfrm>
          <a:prstGeom prst="rect">
            <a:avLst/>
          </a:prstGeom>
          <a:noFill/>
          <a:ln/>
        </p:spPr>
        <p:txBody>
          <a:bodyPr wrap="square" lIns="0" tIns="0" rIns="0" bIns="0" rtlCol="0" anchor="ctr"/>
          <a:lstStyle/>
          <a:p>
            <a:pPr algn="r" indent="0" marL="0">
              <a:buNone/>
            </a:pPr>
            <a:r>
              <a:rPr lang="en-US" sz="1000" u="sng" dirty="0">
                <a:solidFill>
                  <a:srgbClr val="1E88E5"/>
                </a:solidFill>
                <a:hlinkClick r:id="rId1" action="ppaction://hlinksldjump" tooltip="Back to agenda">
                  <a:extLst>
                    <a:ext uri="{A12FA001-AC4F-418D-AE19-62706E023703}">
                      <ahyp:hlinkClr xmlns:ahyp="http://schemas.microsoft.com/office/drawing/2018/hyperlinkcolor" val="tx"/>
                    </a:ext>
                  </a:extLst>
                </a:hlinkClick>
              </a:rPr>
              <a:t>◂ Agenda</a:t>
            </a:r>
            <a:endParaRPr lang="en-US" sz="1000" dirty="0"/>
          </a:p>
        </p:txBody>
      </p:sp>
      <p:sp>
        <p:nvSpPr>
          <p:cNvPr id="6" name="Text 3"/>
          <p:cNvSpPr txBox="1"/>
          <p:nvPr/>
        </p:nvSpPr>
        <p:spPr>
          <a:xfrm>
            <a:off x="365760" y="4800600"/>
            <a:ext cx="457200" cy="256032"/>
          </a:xfrm>
          <a:prstGeom prst="rect">
            <a:avLst/>
          </a:prstGeom>
          <a:noFill/>
          <a:ln/>
        </p:spPr>
        <p:txBody>
          <a:bodyPr wrap="square" lIns="0" tIns="0" rIns="0" bIns="0" rtlCol="0" anchor="ctr"/>
          <a:lstStyle/>
          <a:p>
            <a:pPr indent="0" marL="0">
              <a:buNone/>
            </a:pPr>
            <a:r>
              <a:rPr lang="en-US" sz="1000" dirty="0">
                <a:solidFill>
                  <a:srgbClr val="5B6B7F"/>
                </a:solidFill>
              </a:rPr>
              <a:t>6</a:t>
            </a:r>
            <a:endParaRPr lang="en-US" sz="1000" dirty="0"/>
          </a:p>
        </p:txBody>
      </p:sp>
      <p:graphicFrame>
        <p:nvGraphicFramePr>
          <p:cNvPr id="7" name="Chart 0" descr=""/>
          <p:cNvGraphicFramePr/>
          <p:nvPr/>
        </p:nvGraphicFramePr>
        <p:xfrm>
          <a:off x="365760" y="960120"/>
          <a:ext cx="4297680" cy="3200400"/>
        </p:xfrm>
        <a:graphic xmlns:a="http://schemas.openxmlformats.org/drawingml/2006/main">
          <a:graphicData uri="http://schemas.openxmlformats.org/drawingml/2006/chart">
            <c:chart xmlns:c="http://schemas.openxmlformats.org/drawingml/2006/chart" r:id="rId2"/>
          </a:graphicData>
        </a:graphic>
      </p:graphicFrame>
      <p:graphicFrame>
        <p:nvGraphicFramePr>
          <p:cNvPr id="8" name="Chart 1" descr=""/>
          <p:cNvGraphicFramePr/>
          <p:nvPr/>
        </p:nvGraphicFramePr>
        <p:xfrm>
          <a:off x="4754880" y="960120"/>
          <a:ext cx="4023360" cy="1828800"/>
        </p:xfrm>
        <a:graphic xmlns:a="http://schemas.openxmlformats.org/drawingml/2006/main">
          <a:graphicData uri="http://schemas.openxmlformats.org/drawingml/2006/chart">
            <c:chart xmlns:c="http://schemas.openxmlformats.org/drawingml/2006/chart" r:id="rId3"/>
          </a:graphicData>
        </a:graphic>
      </p:graphicFrame>
      <p:sp>
        <p:nvSpPr>
          <p:cNvPr id="9" name="Shape 4"/>
          <p:cNvSpPr/>
          <p:nvPr/>
        </p:nvSpPr>
        <p:spPr>
          <a:xfrm>
            <a:off x="4754880" y="3017520"/>
            <a:ext cx="1965960" cy="1097280"/>
          </a:xfrm>
          <a:prstGeom prst="roundRect">
            <a:avLst>
              <a:gd name="adj" fmla="val 8333"/>
            </a:avLst>
          </a:prstGeom>
          <a:solidFill>
            <a:srgbClr val="EAF2FB"/>
          </a:solidFill>
          <a:ln w="12700">
            <a:solidFill>
              <a:srgbClr val="1E88E5"/>
            </a:solidFill>
            <a:prstDash val="solid"/>
          </a:ln>
        </p:spPr>
      </p:sp>
      <p:sp>
        <p:nvSpPr>
          <p:cNvPr id="10" name="Text 5"/>
          <p:cNvSpPr txBox="1"/>
          <p:nvPr/>
        </p:nvSpPr>
        <p:spPr>
          <a:xfrm>
            <a:off x="4754880" y="3108960"/>
            <a:ext cx="1965960" cy="457200"/>
          </a:xfrm>
          <a:prstGeom prst="rect">
            <a:avLst/>
          </a:prstGeom>
          <a:noFill/>
          <a:ln/>
        </p:spPr>
        <p:txBody>
          <a:bodyPr wrap="square" lIns="0" tIns="0" rIns="0" bIns="0" rtlCol="0" anchor="ctr"/>
          <a:lstStyle/>
          <a:p>
            <a:pPr algn="ctr" indent="0" marL="0">
              <a:buNone/>
            </a:pPr>
            <a:r>
              <a:rPr lang="en-US" sz="1500" b="1" dirty="0">
                <a:solidFill>
                  <a:srgbClr val="0B2545"/>
                </a:solidFill>
              </a:rPr>
              <a:t>TX · CA · NY</a:t>
            </a:r>
            <a:endParaRPr lang="en-US" sz="1500" dirty="0"/>
          </a:p>
        </p:txBody>
      </p:sp>
      <p:sp>
        <p:nvSpPr>
          <p:cNvPr id="11" name="Text 6"/>
          <p:cNvSpPr txBox="1"/>
          <p:nvPr/>
        </p:nvSpPr>
        <p:spPr>
          <a:xfrm>
            <a:off x="4754880" y="3566160"/>
            <a:ext cx="1965960" cy="411480"/>
          </a:xfrm>
          <a:prstGeom prst="rect">
            <a:avLst/>
          </a:prstGeom>
          <a:noFill/>
          <a:ln/>
        </p:spPr>
        <p:txBody>
          <a:bodyPr wrap="square" lIns="0" tIns="0" rIns="0" bIns="0" rtlCol="0" anchor="ctr"/>
          <a:lstStyle/>
          <a:p>
            <a:pPr algn="ctr" indent="0" marL="0">
              <a:buNone/>
            </a:pPr>
            <a:r>
              <a:rPr lang="en-US" sz="1200" dirty="0">
                <a:solidFill>
                  <a:srgbClr val="5B6B7F"/>
                </a:solidFill>
              </a:rPr>
              <a:t>≈68% of revenue</a:t>
            </a:r>
            <a:endParaRPr lang="en-US" sz="1200" dirty="0"/>
          </a:p>
        </p:txBody>
      </p:sp>
      <p:sp>
        <p:nvSpPr>
          <p:cNvPr id="12" name="Shape 7"/>
          <p:cNvSpPr/>
          <p:nvPr/>
        </p:nvSpPr>
        <p:spPr>
          <a:xfrm>
            <a:off x="6812280" y="3017520"/>
            <a:ext cx="1965960" cy="1097280"/>
          </a:xfrm>
          <a:prstGeom prst="roundRect">
            <a:avLst>
              <a:gd name="adj" fmla="val 8333"/>
            </a:avLst>
          </a:prstGeom>
          <a:solidFill>
            <a:srgbClr val="EAF2FB"/>
          </a:solidFill>
          <a:ln w="12700">
            <a:solidFill>
              <a:srgbClr val="1E88E5"/>
            </a:solidFill>
            <a:prstDash val="solid"/>
          </a:ln>
        </p:spPr>
      </p:sp>
      <p:sp>
        <p:nvSpPr>
          <p:cNvPr id="13" name="Text 8"/>
          <p:cNvSpPr txBox="1"/>
          <p:nvPr/>
        </p:nvSpPr>
        <p:spPr>
          <a:xfrm>
            <a:off x="6812280" y="3108960"/>
            <a:ext cx="1965960" cy="457200"/>
          </a:xfrm>
          <a:prstGeom prst="rect">
            <a:avLst/>
          </a:prstGeom>
          <a:noFill/>
          <a:ln/>
        </p:spPr>
        <p:txBody>
          <a:bodyPr wrap="square" lIns="0" tIns="0" rIns="0" bIns="0" rtlCol="0" anchor="ctr"/>
          <a:lstStyle/>
          <a:p>
            <a:pPr algn="ctr" indent="0" marL="0">
              <a:buNone/>
            </a:pPr>
            <a:r>
              <a:rPr lang="en-US" sz="1500" b="1" dirty="0">
                <a:solidFill>
                  <a:srgbClr val="0B2545"/>
                </a:solidFill>
              </a:rPr>
              <a:t>High income</a:t>
            </a:r>
            <a:endParaRPr lang="en-US" sz="1500" dirty="0"/>
          </a:p>
        </p:txBody>
      </p:sp>
      <p:sp>
        <p:nvSpPr>
          <p:cNvPr id="14" name="Text 9"/>
          <p:cNvSpPr txBox="1"/>
          <p:nvPr/>
        </p:nvSpPr>
        <p:spPr>
          <a:xfrm>
            <a:off x="6812280" y="3566160"/>
            <a:ext cx="1965960" cy="411480"/>
          </a:xfrm>
          <a:prstGeom prst="rect">
            <a:avLst/>
          </a:prstGeom>
          <a:noFill/>
          <a:ln/>
        </p:spPr>
        <p:txBody>
          <a:bodyPr wrap="square" lIns="0" tIns="0" rIns="0" bIns="0" rtlCol="0" anchor="ctr"/>
          <a:lstStyle/>
          <a:p>
            <a:pPr algn="ctr" indent="0" marL="0">
              <a:buNone/>
            </a:pPr>
            <a:r>
              <a:rPr lang="en-US" sz="1200" dirty="0">
                <a:solidFill>
                  <a:srgbClr val="5B6B7F"/>
                </a:solidFill>
              </a:rPr>
              <a:t>≈29M (53%)</a:t>
            </a:r>
            <a:endParaRPr lang="en-US" sz="1200" dirty="0"/>
          </a:p>
        </p:txBody>
      </p:sp>
      <p:sp>
        <p:nvSpPr>
          <p:cNvPr id="15" name="Text 10"/>
          <p:cNvSpPr txBox="1"/>
          <p:nvPr/>
        </p:nvSpPr>
        <p:spPr>
          <a:xfrm>
            <a:off x="457200" y="4343400"/>
            <a:ext cx="5486400" cy="274320"/>
          </a:xfrm>
          <a:prstGeom prst="rect">
            <a:avLst/>
          </a:prstGeom>
          <a:noFill/>
          <a:ln/>
        </p:spPr>
        <p:txBody>
          <a:bodyPr wrap="square" lIns="0" tIns="0" rIns="0" bIns="0" rtlCol="0" anchor="ctr"/>
          <a:lstStyle/>
          <a:p>
            <a:pPr indent="0" marL="0">
              <a:buNone/>
            </a:pPr>
            <a:r>
              <a:rPr lang="en-US" sz="900" i="1" dirty="0">
                <a:solidFill>
                  <a:srgbClr val="5B6B7F"/>
                </a:solidFill>
              </a:rPr>
              <a:t>Age values read from chart bars, so approximate.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Header"/>
          <p:cNvSpPr/>
          <p:nvPr/>
        </p:nvSpPr>
        <p:spPr>
          <a:xfrm>
            <a:off x="0" y="0"/>
            <a:ext cx="9144000" cy="822960"/>
          </a:xfrm>
          <a:prstGeom prst="rect">
            <a:avLst/>
          </a:prstGeom>
          <a:solidFill>
            <a:srgbClr val="0B2545"/>
          </a:solidFill>
          <a:ln/>
        </p:spPr>
      </p:sp>
      <p:sp>
        <p:nvSpPr>
          <p:cNvPr id="3" name="Text 1"/>
          <p:cNvSpPr txBox="1"/>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rPr>
              <a:t>Live Dashboard Views</a:t>
            </a:r>
            <a:endParaRPr lang="en-US" sz="2400" dirty="0"/>
          </a:p>
        </p:txBody>
      </p:sp>
      <p:sp>
        <p:nvSpPr>
          <p:cNvPr id="5" name="Text 2">
            <a:hlinkClick r:id="rId1" tooltip="Back to agenda" action="ppaction://hlinksldjump"/>
          </p:cNvPr>
          <p:cNvSpPr txBox="1"/>
          <p:nvPr/>
        </p:nvSpPr>
        <p:spPr>
          <a:xfrm>
            <a:off x="7863840" y="4800600"/>
            <a:ext cx="1097280" cy="256032"/>
          </a:xfrm>
          <a:prstGeom prst="rect">
            <a:avLst/>
          </a:prstGeom>
          <a:noFill/>
          <a:ln/>
        </p:spPr>
        <p:txBody>
          <a:bodyPr wrap="square" lIns="0" tIns="0" rIns="0" bIns="0" rtlCol="0" anchor="ctr"/>
          <a:lstStyle/>
          <a:p>
            <a:pPr algn="r" indent="0" marL="0">
              <a:buNone/>
            </a:pPr>
            <a:r>
              <a:rPr lang="en-US" sz="1000" u="sng" dirty="0">
                <a:solidFill>
                  <a:srgbClr val="1E88E5"/>
                </a:solidFill>
                <a:hlinkClick r:id="rId1" action="ppaction://hlinksldjump" tooltip="Back to agenda">
                  <a:extLst>
                    <a:ext uri="{A12FA001-AC4F-418D-AE19-62706E023703}">
                      <ahyp:hlinkClr xmlns:ahyp="http://schemas.microsoft.com/office/drawing/2018/hyperlinkcolor" val="tx"/>
                    </a:ext>
                  </a:extLst>
                </a:hlinkClick>
              </a:rPr>
              <a:t>◂ Agenda</a:t>
            </a:r>
            <a:endParaRPr lang="en-US" sz="1000" dirty="0"/>
          </a:p>
        </p:txBody>
      </p:sp>
      <p:sp>
        <p:nvSpPr>
          <p:cNvPr id="6" name="Text 3"/>
          <p:cNvSpPr txBox="1"/>
          <p:nvPr/>
        </p:nvSpPr>
        <p:spPr>
          <a:xfrm>
            <a:off x="365760" y="4800600"/>
            <a:ext cx="457200" cy="256032"/>
          </a:xfrm>
          <a:prstGeom prst="rect">
            <a:avLst/>
          </a:prstGeom>
          <a:noFill/>
          <a:ln/>
        </p:spPr>
        <p:txBody>
          <a:bodyPr wrap="square" lIns="0" tIns="0" rIns="0" bIns="0" rtlCol="0" anchor="ctr"/>
          <a:lstStyle/>
          <a:p>
            <a:pPr indent="0" marL="0">
              <a:buNone/>
            </a:pPr>
            <a:r>
              <a:rPr lang="en-US" sz="1000" dirty="0">
                <a:solidFill>
                  <a:srgbClr val="5B6B7F"/>
                </a:solidFill>
              </a:rPr>
              <a:t>7</a:t>
            </a:r>
            <a:endParaRPr lang="en-US" sz="1000" dirty="0"/>
          </a:p>
        </p:txBody>
      </p:sp>
      <p:pic>
        <p:nvPicPr>
          <p:cNvPr id="7" name="Image 0" descr="Credit Card Customer Report dashboard">    </p:cNvPr>
          <p:cNvPicPr>
            <a:picLocks noChangeAspect="1"/>
          </p:cNvPicPr>
          <p:nvPr/>
        </p:nvPicPr>
        <p:blipFill>
          <a:blip r:embed="rId2"/>
          <a:stretch>
            <a:fillRect/>
          </a:stretch>
        </p:blipFill>
        <p:spPr>
          <a:xfrm>
            <a:off x="320040" y="1097280"/>
            <a:ext cx="4206240" cy="2360891"/>
          </a:xfrm>
          <a:prstGeom prst="rect">
            <a:avLst/>
          </a:prstGeom>
        </p:spPr>
      </p:pic>
      <p:pic>
        <p:nvPicPr>
          <p:cNvPr id="8" name="Image 1" descr="Credit Card Transaction dashboard">    </p:cNvPr>
          <p:cNvPicPr>
            <a:picLocks noChangeAspect="1"/>
          </p:cNvPicPr>
          <p:nvPr/>
        </p:nvPicPr>
        <p:blipFill>
          <a:blip r:embed="rId3"/>
          <a:stretch>
            <a:fillRect/>
          </a:stretch>
        </p:blipFill>
        <p:spPr>
          <a:xfrm>
            <a:off x="4617720" y="1097280"/>
            <a:ext cx="4206240" cy="2336271"/>
          </a:xfrm>
          <a:prstGeom prst="rect">
            <a:avLst/>
          </a:prstGeom>
        </p:spPr>
      </p:pic>
      <p:sp>
        <p:nvSpPr>
          <p:cNvPr id="9" name="Text 4"/>
          <p:cNvSpPr txBox="1"/>
          <p:nvPr/>
        </p:nvSpPr>
        <p:spPr>
          <a:xfrm>
            <a:off x="320040" y="3549611"/>
            <a:ext cx="4206240" cy="274320"/>
          </a:xfrm>
          <a:prstGeom prst="rect">
            <a:avLst/>
          </a:prstGeom>
          <a:noFill/>
          <a:ln/>
        </p:spPr>
        <p:txBody>
          <a:bodyPr wrap="square" lIns="0" tIns="0" rIns="0" bIns="0" rtlCol="0" anchor="ctr"/>
          <a:lstStyle/>
          <a:p>
            <a:pPr algn="ctr" indent="0" marL="0">
              <a:buNone/>
            </a:pPr>
            <a:r>
              <a:rPr lang="en-US" sz="1200" b="1" dirty="0">
                <a:solidFill>
                  <a:srgbClr val="0B2545"/>
                </a:solidFill>
              </a:rPr>
              <a:t>Customer Report</a:t>
            </a:r>
            <a:endParaRPr lang="en-US" sz="1200" dirty="0"/>
          </a:p>
        </p:txBody>
      </p:sp>
      <p:sp>
        <p:nvSpPr>
          <p:cNvPr id="10" name="Text 5"/>
          <p:cNvSpPr txBox="1"/>
          <p:nvPr/>
        </p:nvSpPr>
        <p:spPr>
          <a:xfrm>
            <a:off x="4617720" y="3524991"/>
            <a:ext cx="4206240" cy="274320"/>
          </a:xfrm>
          <a:prstGeom prst="rect">
            <a:avLst/>
          </a:prstGeom>
          <a:noFill/>
          <a:ln/>
        </p:spPr>
        <p:txBody>
          <a:bodyPr wrap="square" lIns="0" tIns="0" rIns="0" bIns="0" rtlCol="0" anchor="ctr"/>
          <a:lstStyle/>
          <a:p>
            <a:pPr algn="ctr" indent="0" marL="0">
              <a:buNone/>
            </a:pPr>
            <a:r>
              <a:rPr lang="en-US" sz="1200" b="1" dirty="0">
                <a:solidFill>
                  <a:srgbClr val="0B2545"/>
                </a:solidFill>
              </a:rPr>
              <a:t>Transaction Report</a:t>
            </a:r>
            <a:endParaRPr lang="en-US" sz="1200" dirty="0"/>
          </a:p>
        </p:txBody>
      </p:sp>
      <p:sp>
        <p:nvSpPr>
          <p:cNvPr id="11" name="Text 6"/>
          <p:cNvSpPr txBox="1"/>
          <p:nvPr/>
        </p:nvSpPr>
        <p:spPr>
          <a:xfrm>
            <a:off x="457200" y="4206240"/>
            <a:ext cx="8229600" cy="274320"/>
          </a:xfrm>
          <a:prstGeom prst="rect">
            <a:avLst/>
          </a:prstGeom>
          <a:noFill/>
          <a:ln/>
        </p:spPr>
        <p:txBody>
          <a:bodyPr wrap="square" lIns="0" tIns="0" rIns="0" bIns="0" rtlCol="0" anchor="ctr"/>
          <a:lstStyle/>
          <a:p>
            <a:pPr indent="0" marL="0">
              <a:buNone/>
            </a:pPr>
            <a:r>
              <a:rPr lang="en-US" sz="1200" i="1" dirty="0">
                <a:solidFill>
                  <a:srgbClr val="1E88E5"/>
                </a:solidFill>
              </a:rPr>
              <a:t>Tip: open the .pbix file for the live, filterable version.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Header"/>
          <p:cNvSpPr/>
          <p:nvPr/>
        </p:nvSpPr>
        <p:spPr>
          <a:xfrm>
            <a:off x="0" y="0"/>
            <a:ext cx="9144000" cy="822960"/>
          </a:xfrm>
          <a:prstGeom prst="rect">
            <a:avLst/>
          </a:prstGeom>
          <a:solidFill>
            <a:srgbClr val="0B2545"/>
          </a:solidFill>
          <a:ln/>
        </p:spPr>
      </p:sp>
      <p:sp>
        <p:nvSpPr>
          <p:cNvPr id="3" name="Text 1"/>
          <p:cNvSpPr txBox="1"/>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rPr>
              <a:t>Spending Behaviour</a:t>
            </a:r>
            <a:endParaRPr lang="en-US" sz="2400" dirty="0"/>
          </a:p>
        </p:txBody>
      </p:sp>
      <p:sp>
        <p:nvSpPr>
          <p:cNvPr id="5" name="Text 2">
            <a:hlinkClick r:id="rId1" tooltip="Back to agenda" action="ppaction://hlinksldjump"/>
          </p:cNvPr>
          <p:cNvSpPr txBox="1"/>
          <p:nvPr/>
        </p:nvSpPr>
        <p:spPr>
          <a:xfrm>
            <a:off x="7863840" y="4800600"/>
            <a:ext cx="1097280" cy="256032"/>
          </a:xfrm>
          <a:prstGeom prst="rect">
            <a:avLst/>
          </a:prstGeom>
          <a:noFill/>
          <a:ln/>
        </p:spPr>
        <p:txBody>
          <a:bodyPr wrap="square" lIns="0" tIns="0" rIns="0" bIns="0" rtlCol="0" anchor="ctr"/>
          <a:lstStyle/>
          <a:p>
            <a:pPr algn="r" indent="0" marL="0">
              <a:buNone/>
            </a:pPr>
            <a:r>
              <a:rPr lang="en-US" sz="1000" u="sng" dirty="0">
                <a:solidFill>
                  <a:srgbClr val="1E88E5"/>
                </a:solidFill>
                <a:hlinkClick r:id="rId1" action="ppaction://hlinksldjump" tooltip="Back to agenda">
                  <a:extLst>
                    <a:ext uri="{A12FA001-AC4F-418D-AE19-62706E023703}">
                      <ahyp:hlinkClr xmlns:ahyp="http://schemas.microsoft.com/office/drawing/2018/hyperlinkcolor" val="tx"/>
                    </a:ext>
                  </a:extLst>
                </a:hlinkClick>
              </a:rPr>
              <a:t>◂ Agenda</a:t>
            </a:r>
            <a:endParaRPr lang="en-US" sz="1000" dirty="0"/>
          </a:p>
        </p:txBody>
      </p:sp>
      <p:sp>
        <p:nvSpPr>
          <p:cNvPr id="6" name="Text 3"/>
          <p:cNvSpPr txBox="1"/>
          <p:nvPr/>
        </p:nvSpPr>
        <p:spPr>
          <a:xfrm>
            <a:off x="365760" y="4800600"/>
            <a:ext cx="457200" cy="256032"/>
          </a:xfrm>
          <a:prstGeom prst="rect">
            <a:avLst/>
          </a:prstGeom>
          <a:noFill/>
          <a:ln/>
        </p:spPr>
        <p:txBody>
          <a:bodyPr wrap="square" lIns="0" tIns="0" rIns="0" bIns="0" rtlCol="0" anchor="ctr"/>
          <a:lstStyle/>
          <a:p>
            <a:pPr indent="0" marL="0">
              <a:buNone/>
            </a:pPr>
            <a:r>
              <a:rPr lang="en-US" sz="1000" dirty="0">
                <a:solidFill>
                  <a:srgbClr val="5B6B7F"/>
                </a:solidFill>
              </a:rPr>
              <a:t>8</a:t>
            </a:r>
            <a:endParaRPr lang="en-US" sz="1000" dirty="0"/>
          </a:p>
        </p:txBody>
      </p:sp>
      <p:graphicFrame>
        <p:nvGraphicFramePr>
          <p:cNvPr id="7" name="Chart 0" descr=""/>
          <p:cNvGraphicFramePr/>
          <p:nvPr/>
        </p:nvGraphicFramePr>
        <p:xfrm>
          <a:off x="274320" y="960120"/>
          <a:ext cx="2834640" cy="3108960"/>
        </p:xfrm>
        <a:graphic xmlns:a="http://schemas.openxmlformats.org/drawingml/2006/main">
          <a:graphicData uri="http://schemas.openxmlformats.org/drawingml/2006/chart">
            <c:chart xmlns:c="http://schemas.openxmlformats.org/drawingml/2006/chart" r:id="rId2"/>
          </a:graphicData>
        </a:graphic>
      </p:graphicFrame>
      <p:graphicFrame>
        <p:nvGraphicFramePr>
          <p:cNvPr id="8" name="Chart 1" descr=""/>
          <p:cNvGraphicFramePr/>
          <p:nvPr/>
        </p:nvGraphicFramePr>
        <p:xfrm>
          <a:off x="3154680" y="960120"/>
          <a:ext cx="2834640" cy="3108960"/>
        </p:xfrm>
        <a:graphic xmlns:a="http://schemas.openxmlformats.org/drawingml/2006/main">
          <a:graphicData uri="http://schemas.openxmlformats.org/drawingml/2006/chart">
            <c:chart xmlns:c="http://schemas.openxmlformats.org/drawingml/2006/chart" r:id="rId3"/>
          </a:graphicData>
        </a:graphic>
      </p:graphicFrame>
      <p:graphicFrame>
        <p:nvGraphicFramePr>
          <p:cNvPr id="9" name="Chart 2" descr=""/>
          <p:cNvGraphicFramePr/>
          <p:nvPr/>
        </p:nvGraphicFramePr>
        <p:xfrm>
          <a:off x="6035040" y="960120"/>
          <a:ext cx="2834640" cy="3108960"/>
        </p:xfrm>
        <a:graphic xmlns:a="http://schemas.openxmlformats.org/drawingml/2006/main">
          <a:graphicData uri="http://schemas.openxmlformats.org/drawingml/2006/chart">
            <c:chart xmlns:c="http://schemas.openxmlformats.org/drawingml/2006/chart" r:id="rId4"/>
          </a:graphicData>
        </a:graphic>
      </p:graphicFrame>
      <p:sp>
        <p:nvSpPr>
          <p:cNvPr id="10" name="Text 4"/>
          <p:cNvSpPr txBox="1"/>
          <p:nvPr/>
        </p:nvSpPr>
        <p:spPr>
          <a:xfrm>
            <a:off x="457200" y="4206240"/>
            <a:ext cx="8229600" cy="365760"/>
          </a:xfrm>
          <a:prstGeom prst="rect">
            <a:avLst/>
          </a:prstGeom>
          <a:noFill/>
          <a:ln/>
        </p:spPr>
        <p:txBody>
          <a:bodyPr wrap="square" lIns="0" tIns="0" rIns="0" bIns="0" rtlCol="0" anchor="ctr"/>
          <a:lstStyle/>
          <a:p>
            <a:pPr indent="0" marL="0">
              <a:buNone/>
            </a:pPr>
            <a:r>
              <a:rPr lang="en-US" sz="1300" b="1" dirty="0">
                <a:solidFill>
                  <a:srgbClr val="1E88E5"/>
                </a:solidFill>
              </a:rPr>
              <a:t>Takeaway: Swipe is ~64% of revenue while Online is only ~5% – the biggest channel growth opportunity.</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Header"/>
          <p:cNvSpPr/>
          <p:nvPr/>
        </p:nvSpPr>
        <p:spPr>
          <a:xfrm>
            <a:off x="0" y="0"/>
            <a:ext cx="9144000" cy="822960"/>
          </a:xfrm>
          <a:prstGeom prst="rect">
            <a:avLst/>
          </a:prstGeom>
          <a:solidFill>
            <a:srgbClr val="0B2545"/>
          </a:solidFill>
          <a:ln/>
        </p:spPr>
      </p:sp>
      <p:sp>
        <p:nvSpPr>
          <p:cNvPr id="3" name="Text 1"/>
          <p:cNvSpPr txBox="1"/>
          <p:nvPr/>
        </p:nvSpPr>
        <p:spPr>
          <a:xfrm>
            <a:off x="457200" y="91440"/>
            <a:ext cx="8229600" cy="640080"/>
          </a:xfrm>
          <a:prstGeom prst="rect">
            <a:avLst/>
          </a:prstGeom>
          <a:noFill/>
          <a:ln/>
        </p:spPr>
        <p:txBody>
          <a:bodyPr wrap="square" lIns="0" tIns="0" rIns="0" bIns="0" rtlCol="0" anchor="ctr"/>
          <a:lstStyle/>
          <a:p>
            <a:pPr indent="0" marL="0">
              <a:buNone/>
            </a:pPr>
            <a:r>
              <a:rPr lang="en-US" sz="2400" b="1" dirty="0">
                <a:solidFill>
                  <a:srgbClr val="FFFFFF"/>
                </a:solidFill>
              </a:rPr>
              <a:t>Insights &amp; Recommendations</a:t>
            </a:r>
            <a:endParaRPr lang="en-US" sz="2400" dirty="0"/>
          </a:p>
        </p:txBody>
      </p:sp>
      <p:sp>
        <p:nvSpPr>
          <p:cNvPr id="5" name="Text 2">
            <a:hlinkClick r:id="rId1" tooltip="Back to agenda" action="ppaction://hlinksldjump"/>
          </p:cNvPr>
          <p:cNvSpPr txBox="1"/>
          <p:nvPr/>
        </p:nvSpPr>
        <p:spPr>
          <a:xfrm>
            <a:off x="7863840" y="4800600"/>
            <a:ext cx="1097280" cy="256032"/>
          </a:xfrm>
          <a:prstGeom prst="rect">
            <a:avLst/>
          </a:prstGeom>
          <a:noFill/>
          <a:ln/>
        </p:spPr>
        <p:txBody>
          <a:bodyPr wrap="square" lIns="0" tIns="0" rIns="0" bIns="0" rtlCol="0" anchor="ctr"/>
          <a:lstStyle/>
          <a:p>
            <a:pPr algn="r" indent="0" marL="0">
              <a:buNone/>
            </a:pPr>
            <a:r>
              <a:rPr lang="en-US" sz="1000" u="sng" dirty="0">
                <a:solidFill>
                  <a:srgbClr val="1E88E5"/>
                </a:solidFill>
                <a:hlinkClick r:id="rId1" action="ppaction://hlinksldjump" tooltip="Back to agenda">
                  <a:extLst>
                    <a:ext uri="{A12FA001-AC4F-418D-AE19-62706E023703}">
                      <ahyp:hlinkClr xmlns:ahyp="http://schemas.microsoft.com/office/drawing/2018/hyperlinkcolor" val="tx"/>
                    </a:ext>
                  </a:extLst>
                </a:hlinkClick>
              </a:rPr>
              <a:t>◂ Agenda</a:t>
            </a:r>
            <a:endParaRPr lang="en-US" sz="1000" dirty="0"/>
          </a:p>
        </p:txBody>
      </p:sp>
      <p:sp>
        <p:nvSpPr>
          <p:cNvPr id="6" name="Text 3"/>
          <p:cNvSpPr txBox="1"/>
          <p:nvPr/>
        </p:nvSpPr>
        <p:spPr>
          <a:xfrm>
            <a:off x="365760" y="4800600"/>
            <a:ext cx="457200" cy="256032"/>
          </a:xfrm>
          <a:prstGeom prst="rect">
            <a:avLst/>
          </a:prstGeom>
          <a:noFill/>
          <a:ln/>
        </p:spPr>
        <p:txBody>
          <a:bodyPr wrap="square" lIns="0" tIns="0" rIns="0" bIns="0" rtlCol="0" anchor="ctr"/>
          <a:lstStyle/>
          <a:p>
            <a:pPr indent="0" marL="0">
              <a:buNone/>
            </a:pPr>
            <a:r>
              <a:rPr lang="en-US" sz="1000" dirty="0">
                <a:solidFill>
                  <a:srgbClr val="5B6B7F"/>
                </a:solidFill>
              </a:rPr>
              <a:t>9</a:t>
            </a:r>
            <a:endParaRPr lang="en-US" sz="1000" dirty="0"/>
          </a:p>
        </p:txBody>
      </p:sp>
      <p:sp>
        <p:nvSpPr>
          <p:cNvPr id="7" name="Text 4"/>
          <p:cNvSpPr txBox="1"/>
          <p:nvPr/>
        </p:nvSpPr>
        <p:spPr>
          <a:xfrm>
            <a:off x="457200" y="1005840"/>
            <a:ext cx="4023360" cy="320040"/>
          </a:xfrm>
          <a:prstGeom prst="rect">
            <a:avLst/>
          </a:prstGeom>
          <a:noFill/>
          <a:ln/>
        </p:spPr>
        <p:txBody>
          <a:bodyPr wrap="square" lIns="0" tIns="0" rIns="0" bIns="0" rtlCol="0" anchor="ctr"/>
          <a:lstStyle/>
          <a:p>
            <a:pPr indent="0" marL="0">
              <a:buNone/>
            </a:pPr>
            <a:r>
              <a:rPr lang="en-US" sz="1600" b="1" dirty="0">
                <a:solidFill>
                  <a:srgbClr val="1E88E5"/>
                </a:solidFill>
              </a:rPr>
              <a:t>What we found</a:t>
            </a:r>
            <a:endParaRPr lang="en-US" sz="1600" dirty="0"/>
          </a:p>
        </p:txBody>
      </p:sp>
      <p:sp>
        <p:nvSpPr>
          <p:cNvPr id="8" name="Text 5"/>
          <p:cNvSpPr txBox="1"/>
          <p:nvPr/>
        </p:nvSpPr>
        <p:spPr>
          <a:xfrm>
            <a:off x="457200" y="1371600"/>
            <a:ext cx="4023360" cy="30175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0B2545"/>
                </a:solidFill>
              </a:rPr>
              <a:t>Revenue 55M; interest 7.84M; spend 45M</a:t>
            </a:r>
            <a:endParaRPr lang="en-US" sz="1400" dirty="0"/>
          </a:p>
          <a:p>
            <a:pPr marL="342900" indent="-342900">
              <a:spcAft>
                <a:spcPts val="800"/>
              </a:spcAft>
              <a:buSzPct val="100000"/>
              <a:buChar char="•"/>
            </a:pPr>
            <a:r>
              <a:rPr lang="en-US" sz="1400" dirty="0">
                <a:solidFill>
                  <a:srgbClr val="0B2545"/>
                </a:solidFill>
              </a:rPr>
              <a:t>Males 30M vs females 25M</a:t>
            </a:r>
            <a:endParaRPr lang="en-US" sz="1400" dirty="0"/>
          </a:p>
          <a:p>
            <a:pPr marL="342900" indent="-342900">
              <a:spcAft>
                <a:spcPts val="800"/>
              </a:spcAft>
              <a:buSzPct val="100000"/>
              <a:buChar char="•"/>
            </a:pPr>
            <a:r>
              <a:rPr lang="en-US" sz="1400" dirty="0">
                <a:solidFill>
                  <a:srgbClr val="0B2545"/>
                </a:solidFill>
              </a:rPr>
              <a:t>Blue = 83% of revenue; Blue + Silver = 93% of transactions</a:t>
            </a:r>
            <a:endParaRPr lang="en-US" sz="1400" dirty="0"/>
          </a:p>
          <a:p>
            <a:pPr marL="342900" indent="-342900">
              <a:spcAft>
                <a:spcPts val="800"/>
              </a:spcAft>
              <a:buSzPct val="100000"/>
              <a:buChar char="•"/>
            </a:pPr>
            <a:r>
              <a:rPr lang="en-US" sz="1400" dirty="0">
                <a:solidFill>
                  <a:srgbClr val="0B2545"/>
                </a:solidFill>
              </a:rPr>
              <a:t>TX, NY, CA ≈ 68% of revenue</a:t>
            </a:r>
            <a:endParaRPr lang="en-US" sz="1400" dirty="0"/>
          </a:p>
          <a:p>
            <a:pPr marL="342900" indent="-342900">
              <a:spcAft>
                <a:spcPts val="800"/>
              </a:spcAft>
              <a:buSzPct val="100000"/>
              <a:buChar char="•"/>
            </a:pPr>
            <a:r>
              <a:rPr lang="en-US" sz="1400" dirty="0">
                <a:solidFill>
                  <a:srgbClr val="0B2545"/>
                </a:solidFill>
              </a:rPr>
              <a:t>Activation 57.5%; delinquency 6.06%</a:t>
            </a:r>
            <a:endParaRPr lang="en-US" sz="1400" dirty="0"/>
          </a:p>
        </p:txBody>
      </p:sp>
      <p:sp>
        <p:nvSpPr>
          <p:cNvPr id="9" name="Shape 6"/>
          <p:cNvSpPr/>
          <p:nvPr/>
        </p:nvSpPr>
        <p:spPr>
          <a:xfrm>
            <a:off x="4754880" y="1005840"/>
            <a:ext cx="3931920" cy="3383280"/>
          </a:xfrm>
          <a:prstGeom prst="roundRect">
            <a:avLst>
              <a:gd name="adj" fmla="val 2703"/>
            </a:avLst>
          </a:prstGeom>
          <a:solidFill>
            <a:srgbClr val="EAF2FB"/>
          </a:solidFill>
          <a:ln w="19050">
            <a:solidFill>
              <a:srgbClr val="1E88E5"/>
            </a:solidFill>
            <a:prstDash val="solid"/>
          </a:ln>
        </p:spPr>
      </p:sp>
      <p:sp>
        <p:nvSpPr>
          <p:cNvPr id="10" name="Text 7"/>
          <p:cNvSpPr txBox="1"/>
          <p:nvPr/>
        </p:nvSpPr>
        <p:spPr>
          <a:xfrm>
            <a:off x="4937760" y="1097280"/>
            <a:ext cx="3566160" cy="320040"/>
          </a:xfrm>
          <a:prstGeom prst="rect">
            <a:avLst/>
          </a:prstGeom>
          <a:noFill/>
          <a:ln/>
        </p:spPr>
        <p:txBody>
          <a:bodyPr wrap="square" lIns="0" tIns="0" rIns="0" bIns="0" rtlCol="0" anchor="ctr"/>
          <a:lstStyle/>
          <a:p>
            <a:pPr indent="0" marL="0">
              <a:buNone/>
            </a:pPr>
            <a:r>
              <a:rPr lang="en-US" sz="1600" b="1" dirty="0">
                <a:solidFill>
                  <a:srgbClr val="1E88E5"/>
                </a:solidFill>
              </a:rPr>
              <a:t>Recommendations</a:t>
            </a:r>
            <a:endParaRPr lang="en-US" sz="1600" dirty="0"/>
          </a:p>
        </p:txBody>
      </p:sp>
      <p:sp>
        <p:nvSpPr>
          <p:cNvPr id="11" name="Text 8"/>
          <p:cNvSpPr txBox="1"/>
          <p:nvPr/>
        </p:nvSpPr>
        <p:spPr>
          <a:xfrm>
            <a:off x="4937760" y="1508760"/>
            <a:ext cx="3566160" cy="274320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0B2545"/>
                </a:solidFill>
              </a:rPr>
              <a:t>Upsell Blue holders to Gold/Platinum</a:t>
            </a:r>
            <a:endParaRPr lang="en-US" sz="1300" dirty="0"/>
          </a:p>
          <a:p>
            <a:pPr marL="342900" indent="-342900">
              <a:spcAft>
                <a:spcPts val="800"/>
              </a:spcAft>
              <a:buSzPct val="100000"/>
              <a:buChar char="•"/>
            </a:pPr>
            <a:r>
              <a:rPr lang="en-US" sz="1300" dirty="0">
                <a:solidFill>
                  <a:srgbClr val="0B2545"/>
                </a:solidFill>
              </a:rPr>
              <a:t>Grow online spend (only ~5% of revenue)</a:t>
            </a:r>
            <a:endParaRPr lang="en-US" sz="1300" dirty="0"/>
          </a:p>
          <a:p>
            <a:pPr marL="342900" indent="-342900">
              <a:spcAft>
                <a:spcPts val="800"/>
              </a:spcAft>
              <a:buSzPct val="100000"/>
              <a:buChar char="•"/>
            </a:pPr>
            <a:r>
              <a:rPr lang="en-US" sz="1300" dirty="0">
                <a:solidFill>
                  <a:srgbClr val="0B2545"/>
                </a:solidFill>
              </a:rPr>
              <a:t>Investigate the Q4 revenue dip</a:t>
            </a:r>
            <a:endParaRPr lang="en-US" sz="1300" dirty="0"/>
          </a:p>
          <a:p>
            <a:pPr marL="342900" indent="-342900">
              <a:spcAft>
                <a:spcPts val="800"/>
              </a:spcAft>
              <a:buSzPct val="100000"/>
              <a:buChar char="•"/>
            </a:pPr>
            <a:r>
              <a:rPr lang="en-US" sz="1300" dirty="0">
                <a:solidFill>
                  <a:srgbClr val="0B2545"/>
                </a:solidFill>
              </a:rPr>
              <a:t>Tighten monitoring of delinquent accounts</a:t>
            </a:r>
            <a:endParaRPr lang="en-US" sz="1300" dirty="0"/>
          </a:p>
          <a:p>
            <a:pPr marL="342900" indent="-342900">
              <a:spcAft>
                <a:spcPts val="800"/>
              </a:spcAft>
              <a:buSzPct val="100000"/>
              <a:buChar char="•"/>
            </a:pPr>
            <a:r>
              <a:rPr lang="en-US" sz="1300" dirty="0">
                <a:solidFill>
                  <a:srgbClr val="0B2545"/>
                </a:solidFill>
              </a:rPr>
              <a:t>Run activation campaigns (target &gt; 57.5%)</a:t>
            </a:r>
            <a:endParaRPr lang="en-US" sz="1300" dirty="0"/>
          </a:p>
          <a:p>
            <a:pPr marL="342900" indent="-342900">
              <a:spcAft>
                <a:spcPts val="800"/>
              </a:spcAft>
              <a:buSzPct val="100000"/>
              <a:buChar char="•"/>
            </a:pPr>
            <a:r>
              <a:rPr lang="en-US" sz="1300" dirty="0">
                <a:solidFill>
                  <a:srgbClr val="0B2545"/>
                </a:solidFill>
              </a:rPr>
              <a:t>Broaden beyond top-3 states and 40–50 band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Credit Card Analysis – Power BI</dc:title>
  <dc:subject>PptxGenJS Presentation</dc:subject>
  <dc:creator>PptxGenJS</dc:creator>
  <cp:lastModifiedBy>PptxGenJS</cp:lastModifiedBy>
  <cp:revision>1</cp:revision>
  <dcterms:created xsi:type="dcterms:W3CDTF">2026-10-19T14:45:00Z</dcterms:created>
  <dcterms:modified xsi:type="dcterms:W3CDTF">2026-10-19T14:45:00Z</dcterms:modified>
</cp:coreProperties>
</file>